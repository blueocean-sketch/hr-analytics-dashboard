
<file path=[Content_Types].xml><?xml version="1.0" encoding="utf-8"?>
<Types xmlns="http://schemas.openxmlformats.org/package/2006/content-types"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rts/style1.xml" ContentType="application/vnd.ms-office.chartstyle+xml"/>
  <Override PartName="/ppt/charts/colors1.xml" ContentType="application/vnd.ms-office.chartcolorstyle+xml"/>
  <Override PartName="/ppt/charts/style2.xml" ContentType="application/vnd.ms-office.chartstyle+xml"/>
  <Override PartName="/ppt/charts/colors2.xml" ContentType="application/vnd.ms-office.chartcolorstyle+xml"/>
  <Override PartName="/ppt/charts/style3.xml" ContentType="application/vnd.ms-office.chartstyle+xml"/>
  <Override PartName="/ppt/charts/colors3.xml" ContentType="application/vnd.ms-office.chartcolorstyle+xml"/>
  <Override PartName="/ppt/charts/style4.xml" ContentType="application/vnd.ms-office.chartstyle+xml"/>
  <Override PartName="/ppt/charts/colors4.xml" ContentType="application/vnd.ms-office.chartcolorstyle+xml"/>
  <Override PartName="/ppt/charts/style5.xml" ContentType="application/vnd.ms-office.chartstyle+xml"/>
  <Override PartName="/ppt/charts/colors5.xml" ContentType="application/vnd.ms-office.chartcolorstyle+xml"/>
  <Override PartName="/ppt/charts/style6.xml" ContentType="application/vnd.ms-office.chartstyle+xml"/>
  <Override PartName="/ppt/charts/colors6.xml" ContentType="application/vnd.ms-office.chartcolorstyle+xml"/>
  <Override PartName="/ppt/charts/style7.xml" ContentType="application/vnd.ms-office.chartstyle+xml"/>
  <Override PartName="/ppt/charts/colors7.xml" ContentType="application/vnd.ms-office.chartcolorstyle+xml"/>
  <Override PartName="/ppt/charts/style8.xml" ContentType="application/vnd.ms-office.chartstyle+xml"/>
  <Override PartName="/ppt/charts/colors8.xml" ContentType="application/vnd.ms-office.chartcolorstyle+xml"/>
  <Override PartName="/ppt/charts/style9.xml" ContentType="application/vnd.ms-office.chartstyle+xml"/>
  <Override PartName="/ppt/charts/colors9.xml" ContentType="application/vnd.ms-office.chartcolorstyle+xml"/>
  <Override PartName="/ppt/charts/style10.xml" ContentType="application/vnd.ms-office.chartstyle+xml"/>
  <Override PartName="/ppt/charts/colors10.xml" ContentType="application/vnd.ms-office.chartcolor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6"/>
  </p:notesMasterIdLst>
  <p:sldIdLst>
    <p:sldId id="256" r:id="rId2"/>
    <p:sldId id="257" r:id="rId3"/>
    <p:sldId id="258" r:id="rId4"/>
    <p:sldId id="260" r:id="rId5"/>
    <p:sldId id="261" r:id="rId6"/>
    <p:sldId id="262" r:id="rId7"/>
    <p:sldId id="272" r:id="rId8"/>
    <p:sldId id="269" r:id="rId9"/>
    <p:sldId id="270" r:id="rId10"/>
    <p:sldId id="271" r:id="rId11"/>
    <p:sldId id="277" r:id="rId12"/>
    <p:sldId id="273" r:id="rId13"/>
    <p:sldId id="274" r:id="rId14"/>
    <p:sldId id="275" r:id="rId15"/>
    <p:sldId id="276" r:id="rId16"/>
    <p:sldId id="279" r:id="rId17"/>
    <p:sldId id="288" r:id="rId18"/>
    <p:sldId id="285" r:id="rId19"/>
    <p:sldId id="282" r:id="rId20"/>
    <p:sldId id="283" r:id="rId21"/>
    <p:sldId id="284" r:id="rId22"/>
    <p:sldId id="281" r:id="rId23"/>
    <p:sldId id="286" r:id="rId24"/>
    <p:sldId id="287" r:id="rId2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3BE1EB-0BEF-7B52-EF6C-CA369AA6A0D6}" v="216" dt="2025-11-08T06:02:01.187"/>
    <p1510:client id="{6D097417-46F8-40E8-823D-27A36BBDC10F}" v="134" dt="2025-11-07T18:47:53.773"/>
    <p1510:client id="{B1F37580-1034-882F-9764-7E1F6E968B67}" v="138" dt="2025-11-08T16:08: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41" autoAdjust="0"/>
    <p:restoredTop sz="87011" autoAdjust="0"/>
  </p:normalViewPr>
  <p:slideViewPr>
    <p:cSldViewPr>
      <p:cViewPr>
        <p:scale>
          <a:sx n="82" d="100"/>
          <a:sy n="82" d="100"/>
        </p:scale>
        <p:origin x="-1032" y="4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Style" Target="style1.xml"/><Relationship Id="rId2" Type="http://schemas.microsoft.com/office/2011/relationships/chartColorStyle" Target="colors1.xml"/><Relationship Id="rId1" Type="http://schemas.openxmlformats.org/officeDocument/2006/relationships/oleObject" Target="https://d.docs.live.net/6143677FF8E75AE4/HR_Analysis%20(2)1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Style" Target="style2.xml"/><Relationship Id="rId2" Type="http://schemas.microsoft.com/office/2011/relationships/chartColorStyle" Target="colors2.xml"/><Relationship Id="rId1" Type="http://schemas.openxmlformats.org/officeDocument/2006/relationships/oleObject" Target="https://d.docs.live.net/6143677FF8E75AE4/HR_Analysis%20(2)1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Style" Target="style3.xml"/><Relationship Id="rId2" Type="http://schemas.microsoft.com/office/2011/relationships/chartColorStyle" Target="colors3.xml"/><Relationship Id="rId1" Type="http://schemas.openxmlformats.org/officeDocument/2006/relationships/oleObject" Target="https://d.docs.live.net/6143677FF8E75AE4/HR_Analysis%20(2)1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Style" Target="style4.xml"/><Relationship Id="rId2" Type="http://schemas.microsoft.com/office/2011/relationships/chartColorStyle" Target="colors4.xml"/><Relationship Id="rId1" Type="http://schemas.openxmlformats.org/officeDocument/2006/relationships/oleObject" Target="https://d.docs.live.net/6143677FF8E75AE4/HR_Analysis%20(2)1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microsoft.com/office/2011/relationships/chartStyle" Target="style5.xml"/><Relationship Id="rId2" Type="http://schemas.microsoft.com/office/2011/relationships/chartColorStyle" Target="colors5.xml"/><Relationship Id="rId1" Type="http://schemas.openxmlformats.org/officeDocument/2006/relationships/oleObject" Target="https://d.docs.live.net/6143677FF8E75AE4/HR_Analysis%20(2)1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microsoft.com/office/2011/relationships/chartStyle" Target="style6.xml"/><Relationship Id="rId2" Type="http://schemas.microsoft.com/office/2011/relationships/chartColorStyle" Target="colors6.xml"/><Relationship Id="rId1" Type="http://schemas.openxmlformats.org/officeDocument/2006/relationships/oleObject" Target="https://d.docs.live.net/6143677FF8E75AE4/HR_Analysis%20(2)1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microsoft.com/office/2011/relationships/chartStyle" Target="style7.xml"/><Relationship Id="rId2" Type="http://schemas.microsoft.com/office/2011/relationships/chartColorStyle" Target="colors7.xml"/><Relationship Id="rId1" Type="http://schemas.openxmlformats.org/officeDocument/2006/relationships/oleObject" Target="https://d.docs.live.net/6143677FF8E75AE4/HR_Analysis%20(2)1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microsoft.com/office/2011/relationships/chartStyle" Target="style8.xml"/><Relationship Id="rId2" Type="http://schemas.microsoft.com/office/2011/relationships/chartColorStyle" Target="colors8.xml"/><Relationship Id="rId1" Type="http://schemas.openxmlformats.org/officeDocument/2006/relationships/oleObject" Target="https://d.docs.live.net/6143677FF8E75AE4/HR_Analysis%20(2)1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microsoft.com/office/2011/relationships/chartStyle" Target="style9.xml"/><Relationship Id="rId2" Type="http://schemas.microsoft.com/office/2011/relationships/chartColorStyle" Target="colors9.xml"/><Relationship Id="rId1" Type="http://schemas.openxmlformats.org/officeDocument/2006/relationships/oleObject" Target="https://d.docs.live.net/6143677FF8E75AE4/HR_Analysis%20(2)1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microsoft.com/office/2011/relationships/chartStyle" Target="style10.xml"/><Relationship Id="rId2" Type="http://schemas.microsoft.com/office/2011/relationships/chartColorStyle" Target="colors10.xml"/><Relationship Id="rId1" Type="http://schemas.openxmlformats.org/officeDocument/2006/relationships/oleObject" Target="https://d.docs.live.net/6143677FF8E75AE4/HR_Analysis%20(2)1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01D8-4887-ADF1-2F971821F420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01D8-4887-ADF1-2F971821F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8974464"/>
        <c:axId val="198980736"/>
      </c:barChart>
      <c:catAx>
        <c:axId val="198974464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980736"/>
        <c:crosses val="autoZero"/>
        <c:auto val="1"/>
        <c:lblAlgn val="ctr"/>
        <c:lblOffset val="100"/>
        <c:noMultiLvlLbl val="0"/>
      </c:catAx>
      <c:valAx>
        <c:axId val="1989807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9744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(2)1.xlsx]Sheet1!PivotTable1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Role-wise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FFFF00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FF00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cat>
            <c:strRef>
              <c:f>Sheet1!$B$2:$B$11</c:f>
              <c:strCache>
                <c:ptCount val="9"/>
                <c:pt idx="0">
                  <c:v>Healthcare Representative</c:v>
                </c:pt>
                <c:pt idx="1">
                  <c:v>Human Resources</c:v>
                </c:pt>
                <c:pt idx="2">
                  <c:v>Laboratory Technician</c:v>
                </c:pt>
                <c:pt idx="3">
                  <c:v>Manager</c:v>
                </c:pt>
                <c:pt idx="4">
                  <c:v>Manufacturing Director</c:v>
                </c:pt>
                <c:pt idx="5">
                  <c:v>Research Director</c:v>
                </c:pt>
                <c:pt idx="6">
                  <c:v>Research Scientist</c:v>
                </c:pt>
                <c:pt idx="7">
                  <c:v>Sales Executive</c:v>
                </c:pt>
                <c:pt idx="8">
                  <c:v>Sales Representative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9"/>
                <c:pt idx="0">
                  <c:v>131</c:v>
                </c:pt>
                <c:pt idx="1">
                  <c:v>52</c:v>
                </c:pt>
                <c:pt idx="2">
                  <c:v>259</c:v>
                </c:pt>
                <c:pt idx="3">
                  <c:v>102</c:v>
                </c:pt>
                <c:pt idx="4">
                  <c:v>145</c:v>
                </c:pt>
                <c:pt idx="5">
                  <c:v>80</c:v>
                </c:pt>
                <c:pt idx="6">
                  <c:v>292</c:v>
                </c:pt>
                <c:pt idx="7">
                  <c:v>326</c:v>
                </c:pt>
                <c:pt idx="8">
                  <c:v>83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B441-47DE-9B87-0D332CFB3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8779264"/>
        <c:axId val="198780800"/>
      </c:barChart>
      <c:catAx>
        <c:axId val="198779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780800"/>
        <c:crosses val="autoZero"/>
        <c:auto val="1"/>
        <c:lblAlgn val="ctr"/>
        <c:lblOffset val="100"/>
        <c:noMultiLvlLbl val="0"/>
      </c:catAx>
      <c:valAx>
        <c:axId val="198780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77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D9FF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Gender-wise Attrition</a:t>
            </a: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tx>
            <c:strRef>
              <c:f>Sheet1!$F$14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00"/>
            </a:solidFill>
          </c:spPr>
          <c:dPt>
            <c:idx val="0"/>
            <c:bubble3D val="0"/>
            <c:spPr>
              <a:solidFill>
                <a:srgbClr val="FFFF0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6810-48FC-BEB5-B6727A27611D}"/>
              </c:ext>
            </c:extLst>
          </c:dPt>
          <c:dPt>
            <c:idx val="1"/>
            <c:bubble3D val="0"/>
            <c:spPr>
              <a:solidFill>
                <a:srgbClr val="99FFC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6810-48FC-BEB5-B6727A27611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Sheet1!$E$15:$E$16</c:f>
              <c:strCache>
                <c:ptCount val="2"/>
                <c:pt idx="0">
                  <c:v>Female</c:v>
                </c:pt>
                <c:pt idx="1">
                  <c:v>Male</c:v>
                </c:pt>
              </c:strCache>
            </c:strRef>
          </c:cat>
          <c:val>
            <c:numRef>
              <c:f>Sheet1!$F$15:$F$16</c:f>
              <c:numCache>
                <c:formatCode>General</c:formatCode>
                <c:ptCount val="2"/>
                <c:pt idx="0">
                  <c:v>87</c:v>
                </c:pt>
                <c:pt idx="1">
                  <c:v>150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4-6810-48FC-BEB5-B6727A2761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Job Satisfaction vs Attrition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Sheet1!$G$31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CCFF33"/>
            </a:solidFill>
            <a:ln>
              <a:solidFill>
                <a:srgbClr val="92D050"/>
              </a:solidFill>
              <a:prstDash val="solid"/>
            </a:ln>
            <a:effectLst/>
          </c:spPr>
          <c:invertIfNegative val="0"/>
          <c:cat>
            <c:multiLvlStrRef>
              <c:f>Sheet1!$H$29:$K$30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Job Satisfaction</c:v>
                  </c:pt>
                </c:lvl>
              </c:multiLvlStrCache>
            </c:multiLvlStrRef>
          </c:cat>
          <c:val>
            <c:numRef>
              <c:f>Sheet1!$H$31:$K$31</c:f>
              <c:numCache>
                <c:formatCode>General</c:formatCode>
                <c:ptCount val="4"/>
                <c:pt idx="0">
                  <c:v>66</c:v>
                </c:pt>
                <c:pt idx="1">
                  <c:v>46</c:v>
                </c:pt>
                <c:pt idx="2">
                  <c:v>73</c:v>
                </c:pt>
                <c:pt idx="3">
                  <c:v>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6A99-4066-9882-7F7CC7FA9A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8869376"/>
        <c:axId val="198870912"/>
      </c:barChart>
      <c:catAx>
        <c:axId val="198869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solidFill>
            <a:srgbClr val="FFFFBD"/>
          </a:solidFill>
          <a:ln w="9525" cap="flat" cmpd="sng" algn="ctr">
            <a:solidFill>
              <a:srgbClr val="FFFFBD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870912"/>
        <c:crosses val="autoZero"/>
        <c:auto val="1"/>
        <c:lblAlgn val="ctr"/>
        <c:lblOffset val="100"/>
        <c:noMultiLvlLbl val="0"/>
      </c:catAx>
      <c:valAx>
        <c:axId val="198870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Count of Attrition </a:t>
                </a:r>
              </a:p>
            </c:rich>
          </c:tx>
          <c:layout>
            <c:manualLayout>
              <c:xMode val="edge"/>
              <c:yMode val="edge"/>
              <c:x val="1.2854515076884555E-2"/>
              <c:y val="0.22977996615508345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869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FFFFBD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(2)1.xlsx]Sheet1!PivotTable5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Monthly Income vs Job Level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99FFCC"/>
          </a:solidFill>
          <a:ln>
            <a:solidFill>
              <a:srgbClr val="0070C0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Sheet1!$B$44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99FFCC"/>
            </a:solidFill>
            <a:ln>
              <a:solidFill>
                <a:srgbClr val="0070C0"/>
              </a:solidFill>
              <a:prstDash val="solid"/>
            </a:ln>
            <a:effectLst/>
          </c:spPr>
          <c:invertIfNegative val="0"/>
          <c:cat>
            <c:strRef>
              <c:f>Sheet1!$A$45:$A$50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Sheet1!$B$45:$B$50</c:f>
              <c:numCache>
                <c:formatCode>0.00</c:formatCode>
                <c:ptCount val="5"/>
                <c:pt idx="0">
                  <c:v>2786.9152854511972</c:v>
                </c:pt>
                <c:pt idx="1">
                  <c:v>5502.2771535580523</c:v>
                </c:pt>
                <c:pt idx="2">
                  <c:v>9817.2522935779816</c:v>
                </c:pt>
                <c:pt idx="3">
                  <c:v>15503.783018867925</c:v>
                </c:pt>
                <c:pt idx="4">
                  <c:v>19191.82608695652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6E3-49D4-BB27-CABFDA6BB9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9394432"/>
        <c:axId val="199396352"/>
      </c:barChart>
      <c:catAx>
        <c:axId val="19939443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Job Level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96352"/>
        <c:crosses val="autoZero"/>
        <c:auto val="1"/>
        <c:lblAlgn val="ctr"/>
        <c:lblOffset val="100"/>
        <c:noMultiLvlLbl val="0"/>
      </c:catAx>
      <c:valAx>
        <c:axId val="19939635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rgbClr val="538DD5"/>
              </a:solidFill>
              <a:prstDash val="solid"/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Avg Monthly Income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0.00" sourceLinked="1"/>
        <c:majorTickMark val="none"/>
        <c:minorTickMark val="none"/>
        <c:tickLblPos val="nextTo"/>
        <c:spPr>
          <a:noFill/>
          <a:ln>
            <a:solidFill>
              <a:srgbClr val="538DD5"/>
            </a:solidFill>
            <a:prstDash val="soli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944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C5D9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5E5-4C2C-A90A-9BEAE3EC0C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9315840"/>
        <c:axId val="199317376"/>
      </c:barChart>
      <c:catAx>
        <c:axId val="199315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17376"/>
        <c:crosses val="autoZero"/>
        <c:auto val="1"/>
        <c:lblAlgn val="ctr"/>
        <c:lblOffset val="100"/>
        <c:noMultiLvlLbl val="0"/>
      </c:catAx>
      <c:valAx>
        <c:axId val="1993173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15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Rate by Work-Life Balance Rating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Sheet1!$J$70</c:f>
              <c:strCache>
                <c:ptCount val="1"/>
                <c:pt idx="0">
                  <c:v>Attrition</c:v>
                </c:pt>
              </c:strCache>
            </c:strRef>
          </c:tx>
          <c:spPr>
            <a:solidFill>
              <a:srgbClr val="FFFFBD"/>
            </a:solidFill>
            <a:ln>
              <a:noFill/>
            </a:ln>
            <a:effectLst/>
          </c:spPr>
          <c:invertIfNegative val="0"/>
          <c:cat>
            <c:multiLvlStrRef>
              <c:f>Sheet1!$K$68:$N$69</c:f>
              <c:multiLvlStrCache>
                <c:ptCount val="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</c:lvl>
                <c:lvl>
                  <c:pt idx="0">
                    <c:v>Work Life Balance</c:v>
                  </c:pt>
                </c:lvl>
              </c:multiLvlStrCache>
            </c:multiLvlStrRef>
          </c:cat>
          <c:val>
            <c:numRef>
              <c:f>Sheet1!$K$70:$N$70</c:f>
              <c:numCache>
                <c:formatCode>General</c:formatCode>
                <c:ptCount val="4"/>
                <c:pt idx="0">
                  <c:v>25</c:v>
                </c:pt>
                <c:pt idx="1">
                  <c:v>58</c:v>
                </c:pt>
                <c:pt idx="2">
                  <c:v>127</c:v>
                </c:pt>
                <c:pt idx="3">
                  <c:v>27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95ED-463A-A2D4-EEA01A0B20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99338624"/>
        <c:axId val="199344512"/>
      </c:barChart>
      <c:catAx>
        <c:axId val="1993386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009CF0"/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44512"/>
        <c:crosses val="autoZero"/>
        <c:auto val="1"/>
        <c:lblAlgn val="ctr"/>
        <c:lblOffset val="100"/>
        <c:noMultiLvlLbl val="0"/>
      </c:catAx>
      <c:valAx>
        <c:axId val="1993445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layout>
            <c:manualLayout>
              <c:xMode val="edge"/>
              <c:yMode val="edge"/>
              <c:x val="1.1805555555555555E-2"/>
              <c:y val="0.3249307378244386"/>
            </c:manualLayout>
          </c:layout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33862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00B0F0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(2)1.xlsx]Sheet2!PivotTable3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Employee Age vs Attrition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637CEF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Sheet2!$B$1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637CEF"/>
            </a:solidFill>
            <a:ln>
              <a:noFill/>
            </a:ln>
            <a:effectLst/>
          </c:spPr>
          <c:invertIfNegative val="0"/>
          <c:cat>
            <c:strRef>
              <c:f>Sheet2!$A$2:$A$41</c:f>
              <c:strCache>
                <c:ptCount val="39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24</c:v>
                </c:pt>
                <c:pt idx="7">
                  <c:v>25</c:v>
                </c:pt>
                <c:pt idx="8">
                  <c:v>26</c:v>
                </c:pt>
                <c:pt idx="9">
                  <c:v>27</c:v>
                </c:pt>
                <c:pt idx="10">
                  <c:v>28</c:v>
                </c:pt>
                <c:pt idx="11">
                  <c:v>29</c:v>
                </c:pt>
                <c:pt idx="12">
                  <c:v>30</c:v>
                </c:pt>
                <c:pt idx="13">
                  <c:v>31</c:v>
                </c:pt>
                <c:pt idx="14">
                  <c:v>32</c:v>
                </c:pt>
                <c:pt idx="15">
                  <c:v>33</c:v>
                </c:pt>
                <c:pt idx="16">
                  <c:v>34</c:v>
                </c:pt>
                <c:pt idx="17">
                  <c:v>35</c:v>
                </c:pt>
                <c:pt idx="18">
                  <c:v>36</c:v>
                </c:pt>
                <c:pt idx="19">
                  <c:v>37</c:v>
                </c:pt>
                <c:pt idx="20">
                  <c:v>38</c:v>
                </c:pt>
                <c:pt idx="21">
                  <c:v>39</c:v>
                </c:pt>
                <c:pt idx="22">
                  <c:v>40</c:v>
                </c:pt>
                <c:pt idx="23">
                  <c:v>41</c:v>
                </c:pt>
                <c:pt idx="24">
                  <c:v>42</c:v>
                </c:pt>
                <c:pt idx="25">
                  <c:v>43</c:v>
                </c:pt>
                <c:pt idx="26">
                  <c:v>44</c:v>
                </c:pt>
                <c:pt idx="27">
                  <c:v>45</c:v>
                </c:pt>
                <c:pt idx="28">
                  <c:v>46</c:v>
                </c:pt>
                <c:pt idx="29">
                  <c:v>47</c:v>
                </c:pt>
                <c:pt idx="30">
                  <c:v>48</c:v>
                </c:pt>
                <c:pt idx="31">
                  <c:v>49</c:v>
                </c:pt>
                <c:pt idx="32">
                  <c:v>50</c:v>
                </c:pt>
                <c:pt idx="33">
                  <c:v>51</c:v>
                </c:pt>
                <c:pt idx="34">
                  <c:v>52</c:v>
                </c:pt>
                <c:pt idx="35">
                  <c:v>53</c:v>
                </c:pt>
                <c:pt idx="36">
                  <c:v>55</c:v>
                </c:pt>
                <c:pt idx="37">
                  <c:v>56</c:v>
                </c:pt>
                <c:pt idx="38">
                  <c:v>58</c:v>
                </c:pt>
              </c:strCache>
            </c:strRef>
          </c:cat>
          <c:val>
            <c:numRef>
              <c:f>Sheet2!$B$2:$B$41</c:f>
              <c:numCache>
                <c:formatCode>General</c:formatCode>
                <c:ptCount val="39"/>
                <c:pt idx="0">
                  <c:v>4</c:v>
                </c:pt>
                <c:pt idx="1">
                  <c:v>6</c:v>
                </c:pt>
                <c:pt idx="2">
                  <c:v>6</c:v>
                </c:pt>
                <c:pt idx="3">
                  <c:v>6</c:v>
                </c:pt>
                <c:pt idx="4">
                  <c:v>5</c:v>
                </c:pt>
                <c:pt idx="5">
                  <c:v>4</c:v>
                </c:pt>
                <c:pt idx="6">
                  <c:v>7</c:v>
                </c:pt>
                <c:pt idx="7">
                  <c:v>6</c:v>
                </c:pt>
                <c:pt idx="8">
                  <c:v>12</c:v>
                </c:pt>
                <c:pt idx="9">
                  <c:v>3</c:v>
                </c:pt>
                <c:pt idx="10">
                  <c:v>14</c:v>
                </c:pt>
                <c:pt idx="11">
                  <c:v>18</c:v>
                </c:pt>
                <c:pt idx="12">
                  <c:v>9</c:v>
                </c:pt>
                <c:pt idx="13">
                  <c:v>18</c:v>
                </c:pt>
                <c:pt idx="14">
                  <c:v>11</c:v>
                </c:pt>
                <c:pt idx="15">
                  <c:v>12</c:v>
                </c:pt>
                <c:pt idx="16">
                  <c:v>9</c:v>
                </c:pt>
                <c:pt idx="17">
                  <c:v>10</c:v>
                </c:pt>
                <c:pt idx="18">
                  <c:v>6</c:v>
                </c:pt>
                <c:pt idx="19">
                  <c:v>6</c:v>
                </c:pt>
                <c:pt idx="20">
                  <c:v>2</c:v>
                </c:pt>
                <c:pt idx="21">
                  <c:v>6</c:v>
                </c:pt>
                <c:pt idx="22">
                  <c:v>5</c:v>
                </c:pt>
                <c:pt idx="23">
                  <c:v>6</c:v>
                </c:pt>
                <c:pt idx="24">
                  <c:v>2</c:v>
                </c:pt>
                <c:pt idx="25">
                  <c:v>2</c:v>
                </c:pt>
                <c:pt idx="26">
                  <c:v>6</c:v>
                </c:pt>
                <c:pt idx="27">
                  <c:v>2</c:v>
                </c:pt>
                <c:pt idx="28">
                  <c:v>4</c:v>
                </c:pt>
                <c:pt idx="29">
                  <c:v>3</c:v>
                </c:pt>
                <c:pt idx="30">
                  <c:v>2</c:v>
                </c:pt>
                <c:pt idx="31">
                  <c:v>2</c:v>
                </c:pt>
                <c:pt idx="32">
                  <c:v>5</c:v>
                </c:pt>
                <c:pt idx="33">
                  <c:v>2</c:v>
                </c:pt>
                <c:pt idx="34">
                  <c:v>3</c:v>
                </c:pt>
                <c:pt idx="35">
                  <c:v>2</c:v>
                </c:pt>
                <c:pt idx="36">
                  <c:v>3</c:v>
                </c:pt>
                <c:pt idx="37">
                  <c:v>3</c:v>
                </c:pt>
                <c:pt idx="38">
                  <c:v>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F7FF-4BAC-89EF-9A78EC5CB3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9789568"/>
        <c:axId val="199795840"/>
      </c:barChart>
      <c:catAx>
        <c:axId val="199789568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Age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795840"/>
        <c:crosses val="autoZero"/>
        <c:auto val="1"/>
        <c:lblAlgn val="ctr"/>
        <c:lblOffset val="100"/>
        <c:noMultiLvlLbl val="0"/>
      </c:catAx>
      <c:valAx>
        <c:axId val="1997958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Attrition count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789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DAEEF3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Visible val="1"/>
      </c14:pivotOptions>
    </c:ext>
  </c:extLs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Attrition by Marital Status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Sheet2!$E$31</c:f>
              <c:strCache>
                <c:ptCount val="1"/>
                <c:pt idx="0">
                  <c:v>Attrition</c:v>
                </c:pt>
              </c:strCache>
            </c:strRef>
          </c:tx>
          <c:dPt>
            <c:idx val="0"/>
            <c:bubble3D val="0"/>
            <c:spPr>
              <a:solidFill>
                <a:srgbClr val="637CEF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1-E3AE-42BA-87A4-95811D27C3F9}"/>
              </c:ext>
            </c:extLst>
          </c:dPt>
          <c:dPt>
            <c:idx val="1"/>
            <c:bubble3D val="0"/>
            <c:spPr>
              <a:solidFill>
                <a:srgbClr val="E3008C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3-E3AE-42BA-87A4-95811D27C3F9}"/>
              </c:ext>
            </c:extLst>
          </c:dPt>
          <c:dPt>
            <c:idx val="2"/>
            <c:bubble3D val="0"/>
            <c:spPr>
              <a:solidFill>
                <a:srgbClr val="2AA0A4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5-E3AE-42BA-87A4-95811D27C3F9}"/>
              </c:ext>
            </c:extLst>
          </c:dPt>
          <c:dPt>
            <c:idx val="3"/>
            <c:bubble3D val="0"/>
            <c:spPr>
              <a:solidFill>
                <a:srgbClr val="9373C0"/>
              </a:solidFill>
              <a:ln w="19050">
                <a:solidFill>
                  <a:schemeClr val="lt1"/>
                </a:solidFill>
              </a:ln>
              <a:effectLst/>
            </c:spPr>
            <c:extLst xmlns:c16r2="http://schemas.microsoft.com/office/drawing/2015/06/chart">
              <c:ext xmlns:c16="http://schemas.microsoft.com/office/drawing/2014/chart" uri="{C3380CC4-5D6E-409C-BE32-E72D297353CC}">
                <c16:uniqueId val="{00000007-E3AE-42BA-87A4-95811D27C3F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 xmlns:c16r2="http://schemas.microsoft.com/office/drawing/2015/06/chart">
              <c:ext xmlns:c15="http://schemas.microsoft.com/office/drawing/2012/chart" uri="{CE6537A1-D6FC-4f65-9D91-7224C49458BB}"/>
            </c:extLst>
          </c:dLbls>
          <c:cat>
            <c:strRef>
              <c:f>Sheet2!$D$32:$D$35</c:f>
              <c:strCache>
                <c:ptCount val="4"/>
                <c:pt idx="0">
                  <c:v>Divorced</c:v>
                </c:pt>
                <c:pt idx="1">
                  <c:v>Married</c:v>
                </c:pt>
                <c:pt idx="2">
                  <c:v>Single</c:v>
                </c:pt>
                <c:pt idx="3">
                  <c:v>Grand Total</c:v>
                </c:pt>
              </c:strCache>
            </c:strRef>
          </c:cat>
          <c:val>
            <c:numRef>
              <c:f>Sheet2!$E$32:$E$35</c:f>
              <c:numCache>
                <c:formatCode>General</c:formatCode>
                <c:ptCount val="4"/>
                <c:pt idx="0">
                  <c:v>33</c:v>
                </c:pt>
                <c:pt idx="1">
                  <c:v>84</c:v>
                </c:pt>
                <c:pt idx="2">
                  <c:v>120</c:v>
                </c:pt>
                <c:pt idx="3">
                  <c:v>237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E3AE-42BA-87A4-95811D27C3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42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[HR_Analysis (2)1.xlsx]2. Pivot Tables!PivotTable2</c:name>
    <c:fmtId val="-1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Department-wise Attrition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rgbClr val="009CF0"/>
          </a:solidFill>
          <a:ln>
            <a:noFill/>
          </a:ln>
          <a:effectLst/>
        </c:spPr>
        <c:marker>
          <c:symbol val="circle"/>
          <c:size val="5"/>
          <c:spPr>
            <a:solidFill>
              <a:srgbClr val="637CEF"/>
            </a:solidFill>
            <a:ln w="9525">
              <a:solidFill>
                <a:srgbClr val="637CEF"/>
              </a:solidFill>
            </a:ln>
            <a:effectLst/>
          </c:spPr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2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4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6"/>
        <c:spPr>
          <a:solidFill>
            <a:srgbClr val="009CF0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rgbClr val="009CF0"/>
          </a:solidFill>
          <a:ln>
            <a:solidFill>
              <a:srgbClr val="FFFFFF"/>
            </a:solidFill>
            <a:prstDash val="solid"/>
          </a:ln>
          <a:effectLst/>
        </c:spPr>
      </c:pivotFmt>
      <c:pivotFmt>
        <c:idx val="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4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6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18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0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  <c:pivotFmt>
        <c:idx val="22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  <c:marker>
          <c:symbol val="none"/>
        </c:marker>
        <c:dLbl>
          <c:idx val="0"/>
          <c:delete val="1"/>
          <c:extLst xmlns:c16r2="http://schemas.microsoft.com/office/drawing/2015/06/chart">
            <c:ext xmlns:c15="http://schemas.microsoft.com/office/drawing/2012/chart" uri="{CE6537A1-D6FC-4f65-9D91-7224C49458BB}"/>
          </c:extLst>
        </c:dLbl>
      </c:pivotFmt>
      <c:pivotFmt>
        <c:idx val="23"/>
        <c:spPr>
          <a:solidFill>
            <a:srgbClr val="F9C2FA"/>
          </a:solidFill>
          <a:ln>
            <a:solidFill>
              <a:srgbClr val="B1A0C7"/>
            </a:solidFill>
            <a:prstDash val="solid"/>
          </a:ln>
          <a:effectLst/>
        </c:spPr>
      </c:pivotFmt>
    </c:pivotFmts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'2. Pivot Tables'!$C$28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9C2FA"/>
            </a:solidFill>
            <a:ln>
              <a:solidFill>
                <a:srgbClr val="B1A0C7"/>
              </a:solidFill>
              <a:prstDash val="solid"/>
            </a:ln>
            <a:effectLst/>
          </c:spPr>
          <c:invertIfNegative val="0"/>
          <c:dPt>
            <c:idx val="1"/>
            <c:invertIfNegative val="0"/>
            <c:bubble3D val="0"/>
            <c:extLst xmlns:c16r2="http://schemas.microsoft.com/office/drawing/2015/06/chart">
              <c:ext xmlns:c16="http://schemas.microsoft.com/office/drawing/2014/chart" uri="{C3380CC4-5D6E-409C-BE32-E72D297353CC}">
                <c16:uniqueId val="{00000001-3268-4F3A-83F1-0CBBFD3429FA}"/>
              </c:ext>
            </c:extLst>
          </c:dPt>
          <c:cat>
            <c:strRef>
              <c:f>'2. Pivot Tables'!$B$29:$B$32</c:f>
              <c:strCache>
                <c:ptCount val="3"/>
                <c:pt idx="0">
                  <c:v>Human Resources</c:v>
                </c:pt>
                <c:pt idx="1">
                  <c:v>Research &amp; Development</c:v>
                </c:pt>
                <c:pt idx="2">
                  <c:v>Sales</c:v>
                </c:pt>
              </c:strCache>
            </c:strRef>
          </c:cat>
          <c:val>
            <c:numRef>
              <c:f>'2. Pivot Tables'!$C$29:$C$32</c:f>
              <c:numCache>
                <c:formatCode>General</c:formatCode>
                <c:ptCount val="3"/>
                <c:pt idx="0">
                  <c:v>63</c:v>
                </c:pt>
                <c:pt idx="1">
                  <c:v>961</c:v>
                </c:pt>
                <c:pt idx="2">
                  <c:v>446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2-3268-4F3A-83F1-0CBBFD3429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99622656"/>
        <c:axId val="199624576"/>
      </c:barChart>
      <c:catAx>
        <c:axId val="199622656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Departments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624576"/>
        <c:crosses val="autoZero"/>
        <c:auto val="1"/>
        <c:lblAlgn val="ctr"/>
        <c:lblOffset val="100"/>
        <c:noMultiLvlLbl val="0"/>
      </c:catAx>
      <c:valAx>
        <c:axId val="19962457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Count of Attrition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96226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rgbClr val="99FFCC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  <c:extLst xmlns:c16r2="http://schemas.microsoft.com/office/drawing/2015/06/chart">
    <c:ext xmlns:c16="http://schemas.microsoft.com/office/drawing/2014/chart" uri="{E28EC0CA-F0BB-4C9C-879D-F8772B89E7AC}">
      <c16:pivotOptions16>
        <c16:showExpandCollapseFieldButtons val="1"/>
      </c16:pivotOptions16>
    </c:ext>
    <c:ext xmlns:c14="http://schemas.microsoft.com/office/drawing/2007/8/2/chart" uri="{781A3756-C4B2-4CAC-9D66-4F8BD8637D16}">
      <c14:pivotOptions>
        <c14:dropZoneSeries val="1"/>
        <c14:dropZonesVisible val="1"/>
      </c14:pivotOptions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2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3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4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5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6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7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8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9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colors10.xml><?xml version="1.0" encoding="utf-8"?>
<cs:colorStyle xmlns:cs="http://schemas.microsoft.com/office/drawing/2012/chartStyle" xmlns:a="http://schemas.openxmlformats.org/drawingml/2006/main" meth="cycle" id="10000">
  <a:srgbClr val="637CEF"/>
  <a:srgbClr val="E3008C"/>
  <a:srgbClr val="2AA0A4"/>
  <a:srgbClr val="9373C0"/>
  <a:srgbClr val="13A10E"/>
  <a:srgbClr val="3A96DD"/>
  <a:srgbClr val="CA5010"/>
  <a:srgbClr val="57811B"/>
  <a:srgbClr val="B146C2"/>
  <a:srgbClr val="AE8C00"/>
  <a:srgbClr val="AE8C00"/>
  <a:srgbClr val="637CEF"/>
  <a:srgbClr val="EE5FB7"/>
  <a:srgbClr val="008B94"/>
  <a:srgbClr val="D77440"/>
  <a:srgbClr val="BA58C9"/>
  <a:srgbClr val="3A96DD"/>
  <a:srgbClr val="E3008C"/>
  <a:srgbClr val="C36BD1"/>
  <a:srgbClr val="D06228"/>
  <a:srgbClr val="57811B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06789-E763-4C35-85B5-11A31DEF7F99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6EA91A-6A75-49D5-A30F-D8224A6E2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9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en-US" sz="1100" dirty="0"/>
              <a:t>*(</a:t>
            </a:r>
            <a:r>
              <a:rPr lang="en-US" sz="1100" b="0" dirty="0"/>
              <a:t>Sum of Monthly Income/total employees = ₹9559309​/1470)</a:t>
            </a:r>
          </a:p>
          <a:p>
            <a:pPr marL="0" indent="0"/>
            <a:r>
              <a:rPr lang="en-US" sz="1100" b="0" dirty="0"/>
              <a:t>**Interpretation of Job Satisfaction Levels:</a:t>
            </a:r>
            <a:br>
              <a:rPr lang="en-US" sz="1100" b="0" dirty="0"/>
            </a:br>
            <a:r>
              <a:rPr lang="en-US" sz="1100" b="0" dirty="0"/>
              <a:t>Employees scoring near 1 exhibit </a:t>
            </a:r>
            <a:r>
              <a:rPr lang="en-US" sz="1100" b="0" i="1" dirty="0"/>
              <a:t>very low satisfaction</a:t>
            </a:r>
            <a:r>
              <a:rPr lang="en-US" sz="1100" b="0" dirty="0"/>
              <a:t>, while those near 2 show </a:t>
            </a:r>
            <a:r>
              <a:rPr lang="en-US" sz="1100" b="0" i="1" dirty="0"/>
              <a:t>moderate dissatisfaction</a:t>
            </a:r>
            <a:r>
              <a:rPr lang="en-US" sz="1100" b="0" dirty="0"/>
              <a:t>. Scores around 3 indicate </a:t>
            </a:r>
            <a:r>
              <a:rPr lang="en-US" sz="1100" b="0" i="1" dirty="0"/>
              <a:t>general satisfaction</a:t>
            </a:r>
            <a:r>
              <a:rPr lang="en-US" sz="1100" b="0" dirty="0"/>
              <a:t>, and those near 4 reflect </a:t>
            </a:r>
            <a:r>
              <a:rPr lang="en-US" sz="1100" b="0" i="1" dirty="0"/>
              <a:t>high satisfaction and positive engagement</a:t>
            </a:r>
            <a:r>
              <a:rPr lang="en-US" sz="1100" b="0" dirty="0"/>
              <a:t>.</a:t>
            </a:r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  <a:p>
            <a:pPr marL="0" indent="0"/>
            <a:endParaRPr lang="en-US" sz="1100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494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*Average Years at Company =(∑(Years at company × No. of Employees)) ÷</a:t>
            </a:r>
            <a:r>
              <a:rPr lang="el-GR" dirty="0"/>
              <a:t>(Σ </a:t>
            </a:r>
            <a:r>
              <a:rPr lang="en-US" dirty="0"/>
              <a:t>Employees)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8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6EA91A-6A75-49D5-A30F-D8224A6E22F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7265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19140000">
            <a:off x="817112" y="1730403"/>
            <a:ext cx="5648623" cy="1204306"/>
          </a:xfrm>
        </p:spPr>
        <p:txBody>
          <a:bodyPr bIns="9144"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19140000">
            <a:off x="1212277" y="2470925"/>
            <a:ext cx="6511131" cy="329259"/>
          </a:xfrm>
        </p:spPr>
        <p:txBody>
          <a:bodyPr tIns="9144">
            <a:normAutofit/>
          </a:bodyPr>
          <a:lstStyle>
            <a:lvl1pPr marL="0" indent="0" algn="l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/>
          <p:cNvSpPr/>
          <p:nvPr/>
        </p:nvSpPr>
        <p:spPr>
          <a:xfrm>
            <a:off x="-2380" y="-925"/>
            <a:ext cx="9146380" cy="6858925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2002901">
                <a:moveTo>
                  <a:pt x="0" y="2002901"/>
                </a:moveTo>
                <a:lnTo>
                  <a:pt x="2836585" y="0"/>
                </a:lnTo>
                <a:lnTo>
                  <a:pt x="3352800" y="270"/>
                </a:lnTo>
                <a:lnTo>
                  <a:pt x="3352800" y="2002901"/>
                </a:lnTo>
                <a:lnTo>
                  <a:pt x="0" y="20029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819399" y="1726737"/>
            <a:ext cx="5650992" cy="1207509"/>
          </a:xfrm>
        </p:spPr>
        <p:txBody>
          <a:bodyPr bIns="9144" anchor="b"/>
          <a:lstStyle>
            <a:lvl1pPr algn="l">
              <a:defRPr kumimoji="0" lang="en-US" sz="3200" b="0" i="0" u="none" strike="noStrike" kern="1200" cap="all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 rot="19140000">
            <a:off x="1216152" y="2468304"/>
            <a:ext cx="6510528" cy="329184"/>
          </a:xfrm>
        </p:spPr>
        <p:txBody>
          <a:bodyPr anchor="t">
            <a:normAutofit/>
          </a:bodyPr>
          <a:lstStyle>
            <a:lvl1pPr marL="0" indent="0">
              <a:buNone/>
              <a:defRPr kumimoji="0" lang="en-US" sz="1400" b="0" i="0" u="none" strike="noStrike" kern="1200" cap="all" spc="40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0016" y="1097280"/>
            <a:ext cx="3200400" cy="371246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9150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00016" y="1097280"/>
            <a:ext cx="3200400" cy="548640"/>
          </a:xfrm>
        </p:spPr>
        <p:txBody>
          <a:bodyPr anchor="b">
            <a:normAutofit/>
          </a:bodyPr>
          <a:lstStyle>
            <a:lvl1pPr marL="0" indent="0">
              <a:buNone/>
              <a:defRPr lang="en-US" sz="1400" b="0" kern="1200" cap="all" spc="400" baseline="0" dirty="0" smtClean="0">
                <a:solidFill>
                  <a:schemeClr val="tx1"/>
                </a:solidFill>
                <a:latin typeface="+mn-lt"/>
                <a:ea typeface="+mj-ea"/>
                <a:cs typeface="Tunga" pitchFamily="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00016" y="1701848"/>
            <a:ext cx="3200400" cy="310896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ight Triangle 16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Triangle 17"/>
          <p:cNvSpPr/>
          <p:nvPr/>
        </p:nvSpPr>
        <p:spPr>
          <a:xfrm rot="5400000">
            <a:off x="433389" y="-433387"/>
            <a:ext cx="6858000" cy="7724778"/>
          </a:xfrm>
          <a:prstGeom prst="rtTriangl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US" sz="1800" kern="120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784930" y="1576103"/>
            <a:ext cx="5212080" cy="1089427"/>
          </a:xfrm>
        </p:spPr>
        <p:txBody>
          <a:bodyPr bIns="0" anchor="b"/>
          <a:lstStyle>
            <a:lvl1pPr algn="l">
              <a:defRPr kumimoji="0" lang="en-US" sz="2800" b="0" i="0" u="none" strike="noStrike" kern="1200" cap="all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9552" y="2618912"/>
            <a:ext cx="3807779" cy="33246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297954" y="2253385"/>
            <a:ext cx="5794760" cy="623314"/>
          </a:xfrm>
        </p:spPr>
        <p:txBody>
          <a:bodyPr>
            <a:normAutofit/>
          </a:bodyPr>
          <a:lstStyle>
            <a:lvl1pPr marL="0" indent="0">
              <a:buNone/>
              <a:defRPr lang="en-US" sz="1400" b="1" kern="120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Arial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ln>
            <a:solidFill>
              <a:schemeClr val="tx2"/>
            </a:solidFill>
          </a:ln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/>
          <p:cNvSpPr>
            <a:spLocks noGrp="1"/>
          </p:cNvSpPr>
          <p:nvPr>
            <p:ph type="pic" sz="quarter" idx="14"/>
          </p:nvPr>
        </p:nvSpPr>
        <p:spPr>
          <a:xfrm>
            <a:off x="2028825" y="0"/>
            <a:ext cx="7115175" cy="6858000"/>
          </a:xfrm>
          <a:custGeom>
            <a:avLst/>
            <a:gdLst>
              <a:gd name="connsiteX0" fmla="*/ 0 w 7104888"/>
              <a:gd name="connsiteY0" fmla="*/ 0 h 6858000"/>
              <a:gd name="connsiteX1" fmla="*/ 7104888 w 7104888"/>
              <a:gd name="connsiteY1" fmla="*/ 0 h 6858000"/>
              <a:gd name="connsiteX2" fmla="*/ 7104888 w 7104888"/>
              <a:gd name="connsiteY2" fmla="*/ 6858000 h 6858000"/>
              <a:gd name="connsiteX3" fmla="*/ 0 w 7104888"/>
              <a:gd name="connsiteY3" fmla="*/ 6858000 h 6858000"/>
              <a:gd name="connsiteX4" fmla="*/ 0 w 7104888"/>
              <a:gd name="connsiteY4" fmla="*/ 0 h 6858000"/>
              <a:gd name="connsiteX0" fmla="*/ 0 w 7104888"/>
              <a:gd name="connsiteY0" fmla="*/ 0 h 6858000"/>
              <a:gd name="connsiteX1" fmla="*/ 5695188 w 7104888"/>
              <a:gd name="connsiteY1" fmla="*/ 0 h 6858000"/>
              <a:gd name="connsiteX2" fmla="*/ 7104888 w 7104888"/>
              <a:gd name="connsiteY2" fmla="*/ 0 h 6858000"/>
              <a:gd name="connsiteX3" fmla="*/ 7104888 w 7104888"/>
              <a:gd name="connsiteY3" fmla="*/ 6858000 h 6858000"/>
              <a:gd name="connsiteX4" fmla="*/ 0 w 7104888"/>
              <a:gd name="connsiteY4" fmla="*/ 6858000 h 6858000"/>
              <a:gd name="connsiteX5" fmla="*/ 0 w 7104888"/>
              <a:gd name="connsiteY5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0287 w 7115175"/>
              <a:gd name="connsiteY4" fmla="*/ 6858000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10287 w 7115175"/>
              <a:gd name="connsiteY5" fmla="*/ 6858000 h 6858000"/>
              <a:gd name="connsiteX6" fmla="*/ 0 w 7115175"/>
              <a:gd name="connsiteY6" fmla="*/ 5048250 h 6858000"/>
              <a:gd name="connsiteX7" fmla="*/ 10287 w 7115175"/>
              <a:gd name="connsiteY7" fmla="*/ 0 h 6858000"/>
              <a:gd name="connsiteX0" fmla="*/ 10287 w 7115175"/>
              <a:gd name="connsiteY0" fmla="*/ 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  <a:gd name="connsiteX6" fmla="*/ 10287 w 7115175"/>
              <a:gd name="connsiteY6" fmla="*/ 0 h 6858000"/>
              <a:gd name="connsiteX0" fmla="*/ 0 w 7115175"/>
              <a:gd name="connsiteY0" fmla="*/ 5048250 h 6858000"/>
              <a:gd name="connsiteX1" fmla="*/ 5705475 w 7115175"/>
              <a:gd name="connsiteY1" fmla="*/ 0 h 6858000"/>
              <a:gd name="connsiteX2" fmla="*/ 7115175 w 7115175"/>
              <a:gd name="connsiteY2" fmla="*/ 0 h 6858000"/>
              <a:gd name="connsiteX3" fmla="*/ 7115175 w 7115175"/>
              <a:gd name="connsiteY3" fmla="*/ 6858000 h 6858000"/>
              <a:gd name="connsiteX4" fmla="*/ 1533526 w 7115175"/>
              <a:gd name="connsiteY4" fmla="*/ 6848475 h 6858000"/>
              <a:gd name="connsiteX5" fmla="*/ 0 w 7115175"/>
              <a:gd name="connsiteY5" fmla="*/ 504825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15175" h="6858000">
                <a:moveTo>
                  <a:pt x="0" y="5048250"/>
                </a:moveTo>
                <a:lnTo>
                  <a:pt x="5705475" y="0"/>
                </a:lnTo>
                <a:lnTo>
                  <a:pt x="7115175" y="0"/>
                </a:lnTo>
                <a:lnTo>
                  <a:pt x="7115175" y="6858000"/>
                </a:lnTo>
                <a:lnTo>
                  <a:pt x="1533526" y="6848475"/>
                </a:lnTo>
                <a:lnTo>
                  <a:pt x="0" y="50482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</p:spPr>
        <p:txBody>
          <a:bodyPr rIns="182880" anchor="ctr"/>
          <a:lstStyle>
            <a:lvl1pPr algn="r"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Right Triangle 8"/>
          <p:cNvSpPr/>
          <p:nvPr/>
        </p:nvSpPr>
        <p:spPr>
          <a:xfrm>
            <a:off x="0" y="2647950"/>
            <a:ext cx="3571875" cy="421005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0" y="5048250"/>
            <a:ext cx="3571875" cy="1809750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1809750 h 1809750"/>
              <a:gd name="connsiteX1" fmla="*/ 1895475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  <a:gd name="connsiteX0" fmla="*/ 0 w 3571875"/>
              <a:gd name="connsiteY0" fmla="*/ 1809750 h 1809750"/>
              <a:gd name="connsiteX1" fmla="*/ 2038350 w 3571875"/>
              <a:gd name="connsiteY1" fmla="*/ 0 h 1809750"/>
              <a:gd name="connsiteX2" fmla="*/ 3571875 w 3571875"/>
              <a:gd name="connsiteY2" fmla="*/ 1809750 h 1809750"/>
              <a:gd name="connsiteX3" fmla="*/ 0 w 3571875"/>
              <a:gd name="connsiteY3" fmla="*/ 1809750 h 1809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71875" h="1809750">
                <a:moveTo>
                  <a:pt x="0" y="1809750"/>
                </a:moveTo>
                <a:lnTo>
                  <a:pt x="2038350" y="0"/>
                </a:lnTo>
                <a:lnTo>
                  <a:pt x="3571875" y="1809750"/>
                </a:lnTo>
                <a:lnTo>
                  <a:pt x="0" y="1809750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9140000">
            <a:off x="671197" y="1717501"/>
            <a:ext cx="5486400" cy="867444"/>
          </a:xfrm>
        </p:spPr>
        <p:txBody>
          <a:bodyPr anchor="b"/>
          <a:lstStyle>
            <a:lvl1pPr algn="l">
              <a:defRPr sz="28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 rot="19140000">
            <a:off x="1143479" y="2180529"/>
            <a:ext cx="6096545" cy="740664"/>
          </a:xfrm>
        </p:spPr>
        <p:txBody>
          <a:bodyPr/>
          <a:lstStyle>
            <a:lvl1pPr marL="0" indent="0">
              <a:buNone/>
              <a:defRPr sz="14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46783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46783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-2382" y="5050633"/>
            <a:ext cx="3574257" cy="1807368"/>
          </a:xfrm>
          <a:custGeom>
            <a:avLst/>
            <a:gdLst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3571875 w 3571875"/>
              <a:gd name="connsiteY2" fmla="*/ 4210050 h 4210050"/>
              <a:gd name="connsiteX3" fmla="*/ 0 w 3571875"/>
              <a:gd name="connsiteY3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883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050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281238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28825 w 3571875"/>
              <a:gd name="connsiteY2" fmla="*/ 2393157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76450 w 3571875"/>
              <a:gd name="connsiteY2" fmla="*/ 2274094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245519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4210050 h 4210050"/>
              <a:gd name="connsiteX1" fmla="*/ 0 w 3571875"/>
              <a:gd name="connsiteY1" fmla="*/ 0 h 4210050"/>
              <a:gd name="connsiteX2" fmla="*/ 2038350 w 3571875"/>
              <a:gd name="connsiteY2" fmla="*/ 2405063 h 4210050"/>
              <a:gd name="connsiteX3" fmla="*/ 3571875 w 3571875"/>
              <a:gd name="connsiteY3" fmla="*/ 4210050 h 4210050"/>
              <a:gd name="connsiteX4" fmla="*/ 0 w 3571875"/>
              <a:gd name="connsiteY4" fmla="*/ 4210050 h 4210050"/>
              <a:gd name="connsiteX0" fmla="*/ 0 w 3571875"/>
              <a:gd name="connsiteY0" fmla="*/ 2433637 h 2433637"/>
              <a:gd name="connsiteX1" fmla="*/ 257175 w 3571875"/>
              <a:gd name="connsiteY1" fmla="*/ 0 h 2433637"/>
              <a:gd name="connsiteX2" fmla="*/ 2038350 w 3571875"/>
              <a:gd name="connsiteY2" fmla="*/ 628650 h 2433637"/>
              <a:gd name="connsiteX3" fmla="*/ 3571875 w 3571875"/>
              <a:gd name="connsiteY3" fmla="*/ 2433637 h 2433637"/>
              <a:gd name="connsiteX4" fmla="*/ 0 w 3571875"/>
              <a:gd name="connsiteY4" fmla="*/ 2433637 h 2433637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24051 w 3574257"/>
              <a:gd name="connsiteY2" fmla="*/ 30718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40682 w 3574257"/>
              <a:gd name="connsiteY2" fmla="*/ 450057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9749 h 1809749"/>
              <a:gd name="connsiteX1" fmla="*/ 0 w 3574257"/>
              <a:gd name="connsiteY1" fmla="*/ 2381 h 1809749"/>
              <a:gd name="connsiteX2" fmla="*/ 2038351 w 3574257"/>
              <a:gd name="connsiteY2" fmla="*/ 0 h 1809749"/>
              <a:gd name="connsiteX3" fmla="*/ 3574257 w 3574257"/>
              <a:gd name="connsiteY3" fmla="*/ 1809749 h 1809749"/>
              <a:gd name="connsiteX4" fmla="*/ 2382 w 3574257"/>
              <a:gd name="connsiteY4" fmla="*/ 1809749 h 1809749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657351 w 3574257"/>
              <a:gd name="connsiteY2" fmla="*/ 2309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0732 w 3574257"/>
              <a:gd name="connsiteY2" fmla="*/ 238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774032 w 3574257"/>
              <a:gd name="connsiteY2" fmla="*/ 161925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969294 w 3574257"/>
              <a:gd name="connsiteY2" fmla="*/ 21432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1819275 w 3574257"/>
              <a:gd name="connsiteY2" fmla="*/ 200026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  <a:gd name="connsiteX0" fmla="*/ 2382 w 3574257"/>
              <a:gd name="connsiteY0" fmla="*/ 1807368 h 1807368"/>
              <a:gd name="connsiteX1" fmla="*/ 0 w 3574257"/>
              <a:gd name="connsiteY1" fmla="*/ 0 h 1807368"/>
              <a:gd name="connsiteX2" fmla="*/ 2045494 w 3574257"/>
              <a:gd name="connsiteY2" fmla="*/ 1 h 1807368"/>
              <a:gd name="connsiteX3" fmla="*/ 3574257 w 3574257"/>
              <a:gd name="connsiteY3" fmla="*/ 1807368 h 1807368"/>
              <a:gd name="connsiteX4" fmla="*/ 2382 w 3574257"/>
              <a:gd name="connsiteY4" fmla="*/ 1807368 h 18073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4257" h="1807368">
                <a:moveTo>
                  <a:pt x="2382" y="1807368"/>
                </a:moveTo>
                <a:lnTo>
                  <a:pt x="0" y="0"/>
                </a:lnTo>
                <a:lnTo>
                  <a:pt x="2045494" y="1"/>
                </a:lnTo>
                <a:lnTo>
                  <a:pt x="3574257" y="1807368"/>
                </a:lnTo>
                <a:lnTo>
                  <a:pt x="2382" y="1807368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-2380" y="5051292"/>
            <a:ext cx="9146380" cy="1806709"/>
          </a:xfrm>
          <a:custGeom>
            <a:avLst/>
            <a:gdLst>
              <a:gd name="connsiteX0" fmla="*/ 0 w 3350419"/>
              <a:gd name="connsiteY0" fmla="*/ 2081213 h 2083594"/>
              <a:gd name="connsiteX1" fmla="*/ 3031331 w 3350419"/>
              <a:gd name="connsiteY1" fmla="*/ 0 h 2083594"/>
              <a:gd name="connsiteX2" fmla="*/ 3350419 w 3350419"/>
              <a:gd name="connsiteY2" fmla="*/ 80963 h 2083594"/>
              <a:gd name="connsiteX3" fmla="*/ 3350419 w 3350419"/>
              <a:gd name="connsiteY3" fmla="*/ 2083594 h 2083594"/>
              <a:gd name="connsiteX4" fmla="*/ 0 w 3350419"/>
              <a:gd name="connsiteY4" fmla="*/ 2081213 h 2083594"/>
              <a:gd name="connsiteX0" fmla="*/ 0 w 3112294"/>
              <a:gd name="connsiteY0" fmla="*/ 2019301 h 2083594"/>
              <a:gd name="connsiteX1" fmla="*/ 2793206 w 3112294"/>
              <a:gd name="connsiteY1" fmla="*/ 0 h 2083594"/>
              <a:gd name="connsiteX2" fmla="*/ 3112294 w 3112294"/>
              <a:gd name="connsiteY2" fmla="*/ 80963 h 2083594"/>
              <a:gd name="connsiteX3" fmla="*/ 3112294 w 3112294"/>
              <a:gd name="connsiteY3" fmla="*/ 2083594 h 2083594"/>
              <a:gd name="connsiteX4" fmla="*/ 0 w 3112294"/>
              <a:gd name="connsiteY4" fmla="*/ 2019301 h 2083594"/>
              <a:gd name="connsiteX0" fmla="*/ 0 w 3345656"/>
              <a:gd name="connsiteY0" fmla="*/ 2097882 h 2097882"/>
              <a:gd name="connsiteX1" fmla="*/ 3026568 w 3345656"/>
              <a:gd name="connsiteY1" fmla="*/ 0 h 2097882"/>
              <a:gd name="connsiteX2" fmla="*/ 3345656 w 3345656"/>
              <a:gd name="connsiteY2" fmla="*/ 80963 h 2097882"/>
              <a:gd name="connsiteX3" fmla="*/ 3345656 w 3345656"/>
              <a:gd name="connsiteY3" fmla="*/ 2083594 h 2097882"/>
              <a:gd name="connsiteX4" fmla="*/ 0 w 3345656"/>
              <a:gd name="connsiteY4" fmla="*/ 2097882 h 2097882"/>
              <a:gd name="connsiteX0" fmla="*/ 0 w 2800350"/>
              <a:gd name="connsiteY0" fmla="*/ 1935957 h 2083594"/>
              <a:gd name="connsiteX1" fmla="*/ 2481262 w 2800350"/>
              <a:gd name="connsiteY1" fmla="*/ 0 h 2083594"/>
              <a:gd name="connsiteX2" fmla="*/ 2800350 w 2800350"/>
              <a:gd name="connsiteY2" fmla="*/ 80963 h 2083594"/>
              <a:gd name="connsiteX3" fmla="*/ 2800350 w 2800350"/>
              <a:gd name="connsiteY3" fmla="*/ 2083594 h 2083594"/>
              <a:gd name="connsiteX4" fmla="*/ 0 w 2800350"/>
              <a:gd name="connsiteY4" fmla="*/ 1935957 h 2083594"/>
              <a:gd name="connsiteX0" fmla="*/ 0 w 3352800"/>
              <a:gd name="connsiteY0" fmla="*/ 2083594 h 2083594"/>
              <a:gd name="connsiteX1" fmla="*/ 3033712 w 3352800"/>
              <a:gd name="connsiteY1" fmla="*/ 0 h 2083594"/>
              <a:gd name="connsiteX2" fmla="*/ 3352800 w 3352800"/>
              <a:gd name="connsiteY2" fmla="*/ 80963 h 2083594"/>
              <a:gd name="connsiteX3" fmla="*/ 3352800 w 3352800"/>
              <a:gd name="connsiteY3" fmla="*/ 2083594 h 2083594"/>
              <a:gd name="connsiteX4" fmla="*/ 0 w 3352800"/>
              <a:gd name="connsiteY4" fmla="*/ 2083594 h 2083594"/>
              <a:gd name="connsiteX0" fmla="*/ 0 w 3352800"/>
              <a:gd name="connsiteY0" fmla="*/ 2002631 h 2002631"/>
              <a:gd name="connsiteX1" fmla="*/ 3033712 w 3352800"/>
              <a:gd name="connsiteY1" fmla="*/ 15716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988469 w 3352800"/>
              <a:gd name="connsiteY1" fmla="*/ 59530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3966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45314 w 3352800"/>
              <a:gd name="connsiteY1" fmla="*/ 1224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34839 w 3352800"/>
              <a:gd name="connsiteY1" fmla="*/ 425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631 h 2002631"/>
              <a:gd name="connsiteX1" fmla="*/ 2875865 w 3352800"/>
              <a:gd name="connsiteY1" fmla="*/ 81782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2002901 h 2002901"/>
              <a:gd name="connsiteX1" fmla="*/ 2836585 w 3352800"/>
              <a:gd name="connsiteY1" fmla="*/ 0 h 2002901"/>
              <a:gd name="connsiteX2" fmla="*/ 3352800 w 3352800"/>
              <a:gd name="connsiteY2" fmla="*/ 270 h 2002901"/>
              <a:gd name="connsiteX3" fmla="*/ 3352800 w 3352800"/>
              <a:gd name="connsiteY3" fmla="*/ 2002901 h 2002901"/>
              <a:gd name="connsiteX4" fmla="*/ 0 w 3352800"/>
              <a:gd name="connsiteY4" fmla="*/ 2002901 h 2002901"/>
              <a:gd name="connsiteX0" fmla="*/ 0 w 3352800"/>
              <a:gd name="connsiteY0" fmla="*/ 2002631 h 2002631"/>
              <a:gd name="connsiteX1" fmla="*/ 754045 w 3352800"/>
              <a:gd name="connsiteY1" fmla="*/ 1468326 h 2002631"/>
              <a:gd name="connsiteX2" fmla="*/ 3352800 w 3352800"/>
              <a:gd name="connsiteY2" fmla="*/ 0 h 2002631"/>
              <a:gd name="connsiteX3" fmla="*/ 3352800 w 3352800"/>
              <a:gd name="connsiteY3" fmla="*/ 2002631 h 2002631"/>
              <a:gd name="connsiteX4" fmla="*/ 0 w 3352800"/>
              <a:gd name="connsiteY4" fmla="*/ 2002631 h 2002631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34305 h 534305"/>
              <a:gd name="connsiteX1" fmla="*/ 754045 w 3352800"/>
              <a:gd name="connsiteY1" fmla="*/ 0 h 534305"/>
              <a:gd name="connsiteX2" fmla="*/ 3352800 w 3352800"/>
              <a:gd name="connsiteY2" fmla="*/ 7687 h 534305"/>
              <a:gd name="connsiteX3" fmla="*/ 3352800 w 3352800"/>
              <a:gd name="connsiteY3" fmla="*/ 534305 h 534305"/>
              <a:gd name="connsiteX4" fmla="*/ 0 w 3352800"/>
              <a:gd name="connsiteY4" fmla="*/ 534305 h 534305"/>
              <a:gd name="connsiteX0" fmla="*/ 0 w 3352800"/>
              <a:gd name="connsiteY0" fmla="*/ 526618 h 526618"/>
              <a:gd name="connsiteX1" fmla="*/ 980611 w 3352800"/>
              <a:gd name="connsiteY1" fmla="*/ 9368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6888 h 526888"/>
              <a:gd name="connsiteX1" fmla="*/ 744735 w 3352800"/>
              <a:gd name="connsiteY1" fmla="*/ 0 h 526888"/>
              <a:gd name="connsiteX2" fmla="*/ 3352800 w 3352800"/>
              <a:gd name="connsiteY2" fmla="*/ 270 h 526888"/>
              <a:gd name="connsiteX3" fmla="*/ 3352800 w 3352800"/>
              <a:gd name="connsiteY3" fmla="*/ 526888 h 526888"/>
              <a:gd name="connsiteX4" fmla="*/ 0 w 3352800"/>
              <a:gd name="connsiteY4" fmla="*/ 526888 h 526888"/>
              <a:gd name="connsiteX0" fmla="*/ 0 w 3352800"/>
              <a:gd name="connsiteY0" fmla="*/ 526618 h 526618"/>
              <a:gd name="connsiteX1" fmla="*/ 811948 w 3352800"/>
              <a:gd name="connsiteY1" fmla="*/ 60921 h 526618"/>
              <a:gd name="connsiteX2" fmla="*/ 3352800 w 3352800"/>
              <a:gd name="connsiteY2" fmla="*/ 0 h 526618"/>
              <a:gd name="connsiteX3" fmla="*/ 3352800 w 3352800"/>
              <a:gd name="connsiteY3" fmla="*/ 526618 h 526618"/>
              <a:gd name="connsiteX4" fmla="*/ 0 w 3352800"/>
              <a:gd name="connsiteY4" fmla="*/ 526618 h 526618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966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241069 w 3352800"/>
              <a:gd name="connsiteY2" fmla="*/ 94144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584 h 527584"/>
              <a:gd name="connsiteX1" fmla="*/ 751718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  <a:gd name="connsiteX0" fmla="*/ 0 w 3352800"/>
              <a:gd name="connsiteY0" fmla="*/ 527313 h 527313"/>
              <a:gd name="connsiteX1" fmla="*/ 900984 w 3352800"/>
              <a:gd name="connsiteY1" fmla="*/ 97774 h 527313"/>
              <a:gd name="connsiteX2" fmla="*/ 3352800 w 3352800"/>
              <a:gd name="connsiteY2" fmla="*/ 0 h 527313"/>
              <a:gd name="connsiteX3" fmla="*/ 3352800 w 3352800"/>
              <a:gd name="connsiteY3" fmla="*/ 527313 h 527313"/>
              <a:gd name="connsiteX4" fmla="*/ 0 w 3352800"/>
              <a:gd name="connsiteY4" fmla="*/ 527313 h 527313"/>
              <a:gd name="connsiteX0" fmla="*/ 0 w 3352800"/>
              <a:gd name="connsiteY0" fmla="*/ 527584 h 527584"/>
              <a:gd name="connsiteX1" fmla="*/ 748227 w 3352800"/>
              <a:gd name="connsiteY1" fmla="*/ 0 h 527584"/>
              <a:gd name="connsiteX2" fmla="*/ 3352800 w 3352800"/>
              <a:gd name="connsiteY2" fmla="*/ 271 h 527584"/>
              <a:gd name="connsiteX3" fmla="*/ 3352800 w 3352800"/>
              <a:gd name="connsiteY3" fmla="*/ 527584 h 527584"/>
              <a:gd name="connsiteX4" fmla="*/ 0 w 3352800"/>
              <a:gd name="connsiteY4" fmla="*/ 527584 h 527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52800" h="527584">
                <a:moveTo>
                  <a:pt x="0" y="527584"/>
                </a:moveTo>
                <a:lnTo>
                  <a:pt x="748227" y="0"/>
                </a:lnTo>
                <a:lnTo>
                  <a:pt x="3352800" y="271"/>
                </a:lnTo>
                <a:lnTo>
                  <a:pt x="3352800" y="527584"/>
                </a:lnTo>
                <a:lnTo>
                  <a:pt x="0" y="527584"/>
                </a:lnTo>
                <a:close/>
              </a:path>
            </a:pathLst>
          </a:cu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365760"/>
            <a:ext cx="7520940" cy="5486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100628"/>
            <a:ext cx="7520940" cy="35798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9140000">
            <a:off x="201168" y="5870448"/>
            <a:ext cx="2176272" cy="2011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7846A648-111A-4400-909F-8753B325E0A2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17514" y="6285122"/>
            <a:ext cx="47244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01038" y="6170822"/>
            <a:ext cx="502920" cy="502920"/>
          </a:xfrm>
          <a:prstGeom prst="ellipse">
            <a:avLst/>
          </a:prstGeom>
          <a:ln w="19050">
            <a:solidFill>
              <a:srgbClr val="FFFFFF"/>
            </a:solidFill>
          </a:ln>
        </p:spPr>
        <p:txBody>
          <a:bodyPr vert="horz" lIns="9144" tIns="9144" rIns="9144" bIns="9144" rtlCol="0" anchor="ctr">
            <a:normAutofit/>
          </a:bodyPr>
          <a:lstStyle>
            <a:lvl1pPr algn="ctr">
              <a:defRPr sz="1650">
                <a:solidFill>
                  <a:srgbClr val="FFFFFF"/>
                </a:solidFill>
              </a:defRPr>
            </a:lvl1pPr>
          </a:lstStyle>
          <a:p>
            <a:fld id="{E18565D1-C6C3-434B-B558-409765A142A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28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buFont typeface="Arial" pitchFamily="34" charset="0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1737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023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30936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9536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73736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3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581912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792224" indent="-164592" algn="l" defTabSz="914400" rtl="0" eaLnBrk="1" latinLnBrk="0" hangingPunct="1">
        <a:spcBef>
          <a:spcPts val="300"/>
        </a:spcBef>
        <a:buClr>
          <a:schemeClr val="accent2"/>
        </a:buClr>
        <a:buFont typeface="Wingdings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3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552" y="1140334"/>
            <a:ext cx="8206680" cy="2795153"/>
          </a:xfrm>
        </p:spPr>
        <p:txBody>
          <a:bodyPr>
            <a:normAutofit fontScale="90000"/>
          </a:bodyPr>
          <a:lstStyle/>
          <a:p>
            <a:pPr algn="l"/>
            <a:r>
              <a:rPr lang="en-US" sz="2800" b="1" dirty="0">
                <a:latin typeface="Batang"/>
                <a:ea typeface="Batang"/>
              </a:rPr>
              <a:t>HR Analytics Dashboard – Employee Insights 2025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800" i="1" dirty="0">
                <a:latin typeface="Batang"/>
                <a:ea typeface="Batang"/>
              </a:rPr>
              <a:t>Based on company HR data (2024–2025)</a:t>
            </a:r>
            <a:r>
              <a:rPr lang="en-US" sz="2800" dirty="0">
                <a:latin typeface="Batang"/>
              </a:rPr>
              <a:t/>
            </a:r>
            <a:br>
              <a:rPr lang="en-US" sz="28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Presented by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Nora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i="1" dirty="0">
                <a:latin typeface="Batang"/>
                <a:ea typeface="Batang"/>
              </a:rPr>
              <a:t>Data Entry Executive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dirty="0">
                <a:latin typeface="Batang"/>
                <a:ea typeface="Batang"/>
              </a:rPr>
              <a:t>📧 </a:t>
            </a:r>
            <a:r>
              <a:rPr lang="en-US" sz="2000" b="1" dirty="0">
                <a:latin typeface="Batang"/>
                <a:ea typeface="Batang"/>
              </a:rPr>
              <a:t>shreyaalphaguha@gmail.com</a:t>
            </a:r>
            <a:r>
              <a:rPr lang="en-US" sz="2000" dirty="0">
                <a:latin typeface="Batang"/>
              </a:rPr>
              <a:t/>
            </a:r>
            <a:br>
              <a:rPr lang="en-US" sz="2000" dirty="0">
                <a:latin typeface="Batang"/>
              </a:rPr>
            </a:br>
            <a:r>
              <a:rPr lang="en-US" sz="2000" b="1" dirty="0">
                <a:latin typeface="Batang"/>
                <a:ea typeface="Batang"/>
              </a:rPr>
              <a:t>Date:</a:t>
            </a:r>
            <a:r>
              <a:rPr lang="en-US" sz="2000" dirty="0">
                <a:latin typeface="Batang"/>
                <a:ea typeface="Batang"/>
              </a:rPr>
              <a:t> November 2025</a:t>
            </a:r>
          </a:p>
        </p:txBody>
      </p:sp>
    </p:spTree>
    <p:extLst>
      <p:ext uri="{BB962C8B-B14F-4D97-AF65-F5344CB8AC3E}">
        <p14:creationId xmlns:p14="http://schemas.microsoft.com/office/powerpoint/2010/main" val="1367938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8496944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200" b="1" dirty="0">
                <a:latin typeface="Batang"/>
                <a:ea typeface="Batang"/>
              </a:rPr>
              <a:t>Objectives of HR Data Analysis</a:t>
            </a:r>
          </a:p>
          <a:p>
            <a:pPr algn="ctr"/>
            <a:endParaRPr lang="en-US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analyze employee attrition patterns and key influencing factors.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identify trends in job satisfaction and compensation.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provide insights for improving retention and employee engagement.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 visualize HR data for quick decision-making.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92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5817" y="329888"/>
            <a:ext cx="7488832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2800" b="1" dirty="0">
                <a:latin typeface="Batang"/>
                <a:ea typeface="Batang"/>
              </a:rPr>
              <a:t>About the Dataset</a:t>
            </a:r>
          </a:p>
          <a:p>
            <a:pPr algn="ctr"/>
            <a:endParaRPr lang="en-US" sz="2800" b="1" dirty="0">
              <a:latin typeface="Batang"/>
              <a:ea typeface="Batang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Data Source: Company HR records (2024–2025)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Total Employees: 1,470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Key Variables: Age, Gender, Department, Job Role, Monthly Income, Attrition, Job Satisfaction, Work-Life Balance, etc.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Batang"/>
                <a:ea typeface="Batang"/>
              </a:rPr>
              <a:t>Tools Used: Microsoft Excel (Pivot Tables, Charts, and Dashboard).</a:t>
            </a:r>
          </a:p>
          <a:p>
            <a:pPr algn="ctr"/>
            <a:endParaRPr lang="en-US" sz="2800" b="1" dirty="0"/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50344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9552" y="1100628"/>
            <a:ext cx="7992888" cy="420058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Overall Attrition Rate = 16.12%</a:t>
            </a: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Department-wise Attrition :</a:t>
            </a: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b="0" dirty="0">
              <a:latin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</a:endParaRP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Average Monthly Income = ₹6502.31*</a:t>
            </a:r>
            <a:endParaRPr lang="en-US" sz="14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r>
              <a:rPr lang="en-US" sz="1800" b="0" dirty="0">
                <a:latin typeface="Batang"/>
                <a:ea typeface="Batang"/>
              </a:rPr>
              <a:t>Job Satisfaction Index= </a:t>
            </a:r>
            <a:r>
              <a:rPr lang="en-US" sz="1800" b="0" dirty="0" smtClean="0">
                <a:latin typeface="Batang"/>
                <a:ea typeface="Batang"/>
              </a:rPr>
              <a:t>2.73 </a:t>
            </a:r>
            <a:r>
              <a:rPr lang="en-US" sz="1800" b="0" dirty="0">
                <a:latin typeface="Batang"/>
                <a:ea typeface="Batang"/>
              </a:rPr>
              <a:t>(moderately </a:t>
            </a:r>
            <a:r>
              <a:rPr lang="en-US" sz="1800" b="0" dirty="0">
                <a:latin typeface="Batang"/>
                <a:ea typeface="Batang"/>
              </a:rPr>
              <a:t>satisfied, on a 4-point scale </a:t>
            </a:r>
            <a:r>
              <a:rPr lang="en-US" sz="1800" b="0" dirty="0" smtClean="0">
                <a:latin typeface="Batang"/>
                <a:ea typeface="Batang"/>
              </a:rPr>
              <a:t>**)</a:t>
            </a:r>
            <a:endParaRPr lang="en-US" sz="1800" b="0" dirty="0">
              <a:latin typeface="Batang"/>
              <a:ea typeface="Batang"/>
            </a:endParaRPr>
          </a:p>
          <a:p>
            <a:pPr marL="0" indent="0"/>
            <a:endParaRPr lang="en-US" sz="1800" b="0" dirty="0"/>
          </a:p>
          <a:p>
            <a:pPr>
              <a:buFont typeface="+mj-lt"/>
              <a:buAutoNum type="arabicPeriod"/>
            </a:pPr>
            <a:endParaRPr lang="en-US" sz="1400" b="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482829"/>
              </p:ext>
            </p:extLst>
          </p:nvPr>
        </p:nvGraphicFramePr>
        <p:xfrm>
          <a:off x="1475656" y="2060848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Department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Count of Attrition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Human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Research &amp; Development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Grand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9390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584" y="476672"/>
            <a:ext cx="7520940" cy="604867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buFont typeface="Franklin Gothic Book" pitchFamily="34" charset="0"/>
              <a:buChar char="5"/>
            </a:pPr>
            <a:r>
              <a:rPr lang="en-US" sz="1800" b="0" dirty="0">
                <a:latin typeface="Batang"/>
                <a:ea typeface="Batang"/>
              </a:rPr>
              <a:t>Work-Life Balance Score: 2.76</a:t>
            </a: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>
              <a:buFont typeface="+mj-lt"/>
              <a:buAutoNum type="arabicPeriod"/>
            </a:pPr>
            <a:endParaRPr lang="en-US" sz="1800" b="0" dirty="0">
              <a:latin typeface="Batang"/>
              <a:ea typeface="Batang"/>
            </a:endParaRPr>
          </a:p>
          <a:p>
            <a:pPr marL="0" indent="0"/>
            <a:r>
              <a:rPr lang="en-US" sz="1800" b="0" dirty="0">
                <a:latin typeface="Batang"/>
                <a:ea typeface="Batang"/>
              </a:rPr>
              <a:t>Work-Life Balance Score=Total Employees/Total Weighted Score​=     4059/1470=2.76 (on a 4-point scale)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Work-life balance and satisfaction levels being below 3 indicate potential areas for HR improvement.</a:t>
            </a:r>
            <a:endParaRPr lang="en-US" sz="1800" b="0" dirty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r>
              <a:rPr lang="en-US" sz="1800" b="0" dirty="0">
                <a:latin typeface="Batang"/>
                <a:ea typeface="Batang"/>
              </a:rPr>
              <a:t>Average Years at Company= 7 (approx.)*</a:t>
            </a:r>
          </a:p>
          <a:p>
            <a:pPr marL="0" indent="0"/>
            <a:r>
              <a:rPr lang="en-US" sz="1800" dirty="0">
                <a:solidFill>
                  <a:schemeClr val="accent1">
                    <a:lumMod val="50000"/>
                  </a:schemeClr>
                </a:solidFill>
                <a:latin typeface="Batang"/>
                <a:ea typeface="Batang"/>
              </a:rPr>
              <a:t>Employees tend to stay around 7 years on average, suggesting reasonable retention despite a moderate attrition rate.</a:t>
            </a:r>
            <a:endParaRPr lang="en-US" sz="1800" b="0" dirty="0">
              <a:solidFill>
                <a:schemeClr val="accent1">
                  <a:lumMod val="50000"/>
                </a:schemeClr>
              </a:solidFill>
              <a:latin typeface="Batang"/>
              <a:ea typeface="Batang"/>
            </a:endParaRPr>
          </a:p>
          <a:p>
            <a:pPr>
              <a:buFont typeface="+mj-lt"/>
              <a:buAutoNum type="arabicPeriod" startAt="6"/>
            </a:pPr>
            <a:endParaRPr lang="en-US" sz="1800" b="0" dirty="0">
              <a:latin typeface="Batang"/>
              <a:ea typeface="Batang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699822"/>
              </p:ext>
            </p:extLst>
          </p:nvPr>
        </p:nvGraphicFramePr>
        <p:xfrm>
          <a:off x="1394603" y="1049547"/>
          <a:ext cx="6107906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0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Work-Life Balance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No.</a:t>
                      </a:r>
                      <a:r>
                        <a:rPr lang="en-US" baseline="0" dirty="0">
                          <a:latin typeface="Batang"/>
                        </a:rPr>
                        <a:t> of  Employees</a:t>
                      </a:r>
                      <a:endParaRPr lang="en-US">
                        <a:latin typeface="Batang"/>
                      </a:endParaRPr>
                    </a:p>
                    <a:p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Batang"/>
                        </a:rPr>
                        <a:t>Weighted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1*80=</a:t>
                      </a:r>
                      <a:r>
                        <a:rPr lang="en-US" baseline="0" dirty="0">
                          <a:latin typeface="Batang"/>
                        </a:rPr>
                        <a:t> 80</a:t>
                      </a:r>
                      <a:endParaRPr lang="en-US" dirty="0">
                        <a:latin typeface="Batang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2*344= 688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3*893= 2679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Batang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4*153= 612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1470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Batang"/>
                        </a:rPr>
                        <a:t>4059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32672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Batang"/>
                <a:ea typeface="Batang"/>
              </a:rPr>
              <a:t>Key Metrics Summary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90332118"/>
              </p:ext>
            </p:extLst>
          </p:nvPr>
        </p:nvGraphicFramePr>
        <p:xfrm>
          <a:off x="822325" y="1381284"/>
          <a:ext cx="7521576" cy="3017520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250719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50719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250719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Batang"/>
                        </a:rPr>
                        <a:t>Interpretation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Overall Attrition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16.12%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attrition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Monthly Income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₹6,502.31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Mid-range pay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Job Satisfaction Index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latin typeface="Batang"/>
                        </a:rPr>
                        <a:t>2.73/4</a:t>
                      </a:r>
                      <a:endParaRPr lang="en-US" sz="1800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Moderately satisfied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Work-Life Balance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smtClean="0">
                          <a:latin typeface="Batang"/>
                        </a:rPr>
                        <a:t>2.76/4</a:t>
                      </a:r>
                      <a:endParaRPr lang="en-US" sz="1800" dirty="0">
                        <a:latin typeface="Batang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Balanced, slightly above average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Average Years at Company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7 years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Batang"/>
                        </a:rPr>
                        <a:t>Moderate tenure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389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743C74-BD34-DF24-AD69-F715589AA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407345"/>
            <a:ext cx="7520940" cy="1267507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Attrition</a:t>
            </a:r>
            <a:br>
              <a:rPr lang="en-GB" dirty="0">
                <a:latin typeface="Batang"/>
                <a:ea typeface="+mj-lt"/>
                <a:cs typeface="+mj-lt"/>
              </a:rPr>
            </a:br>
            <a:r>
              <a:rPr lang="en-GB" sz="2000" dirty="0">
                <a:latin typeface="Batang"/>
                <a:ea typeface="+mj-lt"/>
                <a:cs typeface="+mj-lt"/>
              </a:rPr>
              <a:t>Employee Attrition Analysis</a:t>
            </a:r>
            <a:r>
              <a:rPr lang="en-GB" dirty="0">
                <a:latin typeface="Batang"/>
                <a:ea typeface="+mj-lt"/>
                <a:cs typeface="+mj-lt"/>
              </a:rPr>
              <a:t/>
            </a:r>
            <a:br>
              <a:rPr lang="en-GB" dirty="0">
                <a:latin typeface="Batang"/>
                <a:ea typeface="+mj-lt"/>
                <a:cs typeface="+mj-lt"/>
              </a:rPr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79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xmlns="" id="{C25665D8-53F5-4391-995C-0A2CEA7FA123}"/>
              </a:ext>
              <a:ext uri="{147F2762-F138-4A5C-976F-8EAC2B608ADB}">
                <a16:predDERef xmlns:a16="http://schemas.microsoft.com/office/drawing/2014/main" xmlns="" pred="{00000000-0008-0000-0200-00002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7659003"/>
              </p:ext>
            </p:extLst>
          </p:nvPr>
        </p:nvGraphicFramePr>
        <p:xfrm>
          <a:off x="449293" y="785364"/>
          <a:ext cx="8240741" cy="49087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52342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xmlns="" id="{CA3057D2-B709-FC8C-829E-C7E63F72031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0031796"/>
              </p:ext>
            </p:extLst>
          </p:nvPr>
        </p:nvGraphicFramePr>
        <p:xfrm>
          <a:off x="429164" y="469781"/>
          <a:ext cx="8295375" cy="56118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7852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xmlns="" i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439862"/>
              </p:ext>
            </p:extLst>
          </p:nvPr>
        </p:nvGraphicFramePr>
        <p:xfrm>
          <a:off x="493682" y="164441"/>
          <a:ext cx="7950678" cy="55755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1120691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C796121-4088-F890-1649-155F77F67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Summary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C736596-8525-22C0-0A27-8A831ED57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1100628"/>
            <a:ext cx="7520940" cy="481630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Department-wise: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Research &amp; Development shows the highest attrition (</a:t>
            </a:r>
            <a:r>
              <a:rPr lang="en-US" dirty="0">
                <a:latin typeface="Batang"/>
                <a:ea typeface="+mn-lt"/>
                <a:cs typeface="+mn-lt"/>
              </a:rPr>
              <a:t>961</a:t>
            </a:r>
            <a:r>
              <a:rPr lang="en-US" b="0" dirty="0">
                <a:latin typeface="Batang"/>
                <a:ea typeface="+mn-lt"/>
                <a:cs typeface="+mn-lt"/>
              </a:rPr>
              <a:t>), followed by Sales (</a:t>
            </a:r>
            <a:r>
              <a:rPr lang="en-US" dirty="0">
                <a:latin typeface="Batang"/>
                <a:ea typeface="+mn-lt"/>
                <a:cs typeface="+mn-lt"/>
              </a:rPr>
              <a:t>446</a:t>
            </a:r>
            <a:r>
              <a:rPr lang="en-US" b="0" dirty="0">
                <a:latin typeface="Batang"/>
                <a:ea typeface="+mn-lt"/>
                <a:cs typeface="+mn-lt"/>
              </a:rPr>
              <a:t>) and Human Resources (</a:t>
            </a:r>
            <a:r>
              <a:rPr lang="en-US" dirty="0">
                <a:latin typeface="Batang"/>
                <a:ea typeface="+mn-lt"/>
                <a:cs typeface="+mn-lt"/>
              </a:rPr>
              <a:t>63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higher turnover in technical and client-facing roles.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Job Role-wise: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Major contributors: Sales Executive (</a:t>
            </a:r>
            <a:r>
              <a:rPr lang="en-US" dirty="0">
                <a:latin typeface="Batang"/>
                <a:ea typeface="+mn-lt"/>
                <a:cs typeface="+mn-lt"/>
              </a:rPr>
              <a:t>326</a:t>
            </a:r>
            <a:r>
              <a:rPr lang="en-US" b="0" dirty="0">
                <a:latin typeface="Batang"/>
                <a:ea typeface="+mn-lt"/>
                <a:cs typeface="+mn-lt"/>
              </a:rPr>
              <a:t>), Research Scientist (</a:t>
            </a:r>
            <a:r>
              <a:rPr lang="en-US" dirty="0">
                <a:latin typeface="Batang"/>
                <a:ea typeface="+mn-lt"/>
                <a:cs typeface="+mn-lt"/>
              </a:rPr>
              <a:t>292</a:t>
            </a:r>
            <a:r>
              <a:rPr lang="en-US" b="0" dirty="0">
                <a:latin typeface="Batang"/>
                <a:ea typeface="+mn-lt"/>
                <a:cs typeface="+mn-lt"/>
              </a:rPr>
              <a:t>), and Laboratory Technician (</a:t>
            </a:r>
            <a:r>
              <a:rPr lang="en-US" dirty="0">
                <a:latin typeface="Batang"/>
                <a:ea typeface="+mn-lt"/>
                <a:cs typeface="+mn-lt"/>
              </a:rPr>
              <a:t>259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Leadership roles like Manager (</a:t>
            </a:r>
            <a:r>
              <a:rPr lang="en-US" dirty="0">
                <a:latin typeface="Batang"/>
                <a:ea typeface="+mn-lt"/>
                <a:cs typeface="+mn-lt"/>
              </a:rPr>
              <a:t>102</a:t>
            </a:r>
            <a:r>
              <a:rPr lang="en-US" b="0" dirty="0">
                <a:latin typeface="Batang"/>
                <a:ea typeface="+mn-lt"/>
                <a:cs typeface="+mn-lt"/>
              </a:rPr>
              <a:t>) and Research Director (</a:t>
            </a:r>
            <a:r>
              <a:rPr lang="en-US" dirty="0">
                <a:latin typeface="Batang"/>
                <a:ea typeface="+mn-lt"/>
                <a:cs typeface="+mn-lt"/>
              </a:rPr>
              <a:t>80</a:t>
            </a:r>
            <a:r>
              <a:rPr lang="en-US" b="0" dirty="0">
                <a:latin typeface="Batang"/>
                <a:ea typeface="+mn-lt"/>
                <a:cs typeface="+mn-lt"/>
              </a:rPr>
              <a:t>) show lower attrition.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Gender-wise: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Males (</a:t>
            </a:r>
            <a:r>
              <a:rPr lang="en-US" dirty="0">
                <a:latin typeface="Batang"/>
                <a:ea typeface="+mn-lt"/>
                <a:cs typeface="+mn-lt"/>
              </a:rPr>
              <a:t>150</a:t>
            </a:r>
            <a:r>
              <a:rPr lang="en-US" b="0" dirty="0">
                <a:latin typeface="Batang"/>
                <a:ea typeface="+mn-lt"/>
                <a:cs typeface="+mn-lt"/>
              </a:rPr>
              <a:t>) have a higher attrition count compared to females (</a:t>
            </a:r>
            <a:r>
              <a:rPr lang="en-US" dirty="0">
                <a:latin typeface="Batang"/>
                <a:ea typeface="+mn-lt"/>
                <a:cs typeface="+mn-lt"/>
              </a:rPr>
              <a:t>87</a:t>
            </a:r>
            <a:r>
              <a:rPr lang="en-US" b="0" dirty="0">
                <a:latin typeface="Batang"/>
                <a:ea typeface="+mn-lt"/>
                <a:cs typeface="+mn-lt"/>
              </a:rPr>
              <a:t>).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Overall Insights: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is concentrated in mid-level technical and sales roles.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need for retention strategies in high-stress or field-based positions.</a:t>
            </a:r>
            <a:endParaRPr lang="en-US">
              <a:latin typeface="Batang"/>
              <a:ea typeface="Batang"/>
            </a:endParaRPr>
          </a:p>
          <a:p>
            <a:endParaRPr lang="en-US" dirty="0">
              <a:latin typeface="Franklin Gothic Book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65824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2DE48A9-4B27-FF3E-56DD-26B064920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037469"/>
          </a:xfrm>
        </p:spPr>
        <p:txBody>
          <a:bodyPr/>
          <a:lstStyle/>
          <a:p>
            <a:pPr algn="ctr"/>
            <a:r>
              <a:rPr lang="en-GB" dirty="0">
                <a:latin typeface="Batang"/>
                <a:ea typeface="+mj-lt"/>
                <a:cs typeface="+mj-lt"/>
              </a:rPr>
              <a:t>Visual Insights – Satisfaction &amp; Compensation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62A11C-B7FA-4A7B-AC5A-D25D21DEB3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583" y="2912174"/>
            <a:ext cx="7520940" cy="517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GB" sz="2000" b="0" dirty="0">
                <a:latin typeface="Batang"/>
                <a:ea typeface="+mn-lt"/>
                <a:cs typeface="+mn-lt"/>
              </a:rPr>
              <a:t>Job Satisfaction and Compensation Trends</a:t>
            </a:r>
            <a:endParaRPr lang="en-US" sz="2000">
              <a:latin typeface="Batang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35779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xmlns="" id="{03C4BBFF-A6FB-5BD0-1646-9FD94C76BE1E}"/>
              </a:ext>
              <a:ext uri="{147F2762-F138-4A5C-976F-8EAC2B608ADB}">
                <a16:predDERef xmlns:a16="http://schemas.microsoft.com/office/drawing/2014/main" xmlns="" pred="{00DDE913-C58F-F056-2A5E-DC1CF68ED1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14421068"/>
              </p:ext>
            </p:extLst>
          </p:nvPr>
        </p:nvGraphicFramePr>
        <p:xfrm>
          <a:off x="866686" y="766134"/>
          <a:ext cx="7635994" cy="47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173979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xmlns="" id="{7292DE86-5485-ECE6-E424-8B6063150E44}"/>
              </a:ext>
              <a:ext uri="{147F2762-F138-4A5C-976F-8EAC2B608ADB}">
                <a16:predDERef xmlns:a16="http://schemas.microsoft.com/office/drawing/2014/main" xmlns="" pred="{03C4BBFF-A6FB-5BD0-1646-9FD94C76BE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130838"/>
              </p:ext>
            </p:extLst>
          </p:nvPr>
        </p:nvGraphicFramePr>
        <p:xfrm>
          <a:off x="657316" y="460256"/>
          <a:ext cx="7824697" cy="56452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539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xmlns="" id="{699AB8F3-4F14-112B-BD03-E36115C098C7}"/>
              </a:ext>
              <a:ext uri="{147F2762-F138-4A5C-976F-8EAC2B608ADB}">
                <a16:predDERef xmlns:a16="http://schemas.microsoft.com/office/drawing/2014/main" xmlns="" pred="{7292DE86-5485-ECE6-E424-8B6063150E44}"/>
              </a:ext>
            </a:extLst>
          </p:cNvPr>
          <p:cNvGraphicFramePr>
            <a:graphicFrameLocks/>
          </p:cNvGraphicFramePr>
          <p:nvPr/>
        </p:nvGraphicFramePr>
        <p:xfrm>
          <a:off x="2276475" y="1476375"/>
          <a:ext cx="457200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xmlns="" id="{1E06C10C-8B9F-6216-378D-8E75334B6922}"/>
              </a:ext>
              <a:ext uri="{147F2762-F138-4A5C-976F-8EAC2B608ADB}">
                <a16:predDERef xmlns:a16="http://schemas.microsoft.com/office/drawing/2014/main" xmlns="" pred="{7292DE86-5485-ECE6-E424-8B6063150E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7617494"/>
              </p:ext>
            </p:extLst>
          </p:nvPr>
        </p:nvGraphicFramePr>
        <p:xfrm>
          <a:off x="378664" y="398074"/>
          <a:ext cx="8022565" cy="5841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74049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0217E7E-3E2A-5846-6855-B74805763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Correlation Insights</a:t>
            </a:r>
            <a:endParaRPr lang="en-US" dirty="0">
              <a:latin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19E83D1-35AB-08AD-0519-32AFAE1AD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" y="928100"/>
            <a:ext cx="7520940" cy="53626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Job Satisfaction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Highest attrition among employees with </a:t>
            </a:r>
            <a:r>
              <a:rPr lang="en-US" dirty="0">
                <a:latin typeface="Batang"/>
                <a:ea typeface="+mn-lt"/>
                <a:cs typeface="+mn-lt"/>
              </a:rPr>
              <a:t>medium (73)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low satisfaction (66)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declines with higher satisfaction levels.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Monthly Income vs Job Level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Income rises consistently with job level (</a:t>
            </a:r>
            <a:r>
              <a:rPr lang="en-US" b="0" dirty="0">
                <a:solidFill>
                  <a:srgbClr val="000000"/>
                </a:solidFill>
                <a:latin typeface="Batang"/>
                <a:ea typeface="Roboto"/>
                <a:cs typeface="Roboto"/>
              </a:rPr>
              <a:t>₹</a:t>
            </a:r>
            <a:r>
              <a:rPr lang="en-US" b="0" dirty="0">
                <a:latin typeface="Batang"/>
                <a:ea typeface="+mn-lt"/>
                <a:cs typeface="+mn-lt"/>
              </a:rPr>
              <a:t>2,786    ₹19,191).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Indicates clear pay hierarchy, but mid-level employees may face stagnation issues.</a:t>
            </a:r>
            <a:endParaRPr lang="en-US" dirty="0">
              <a:latin typeface="Batang"/>
              <a:ea typeface="+mn-lt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Work-Life Balance vs Attrition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Attrition peaks at </a:t>
            </a:r>
            <a:r>
              <a:rPr lang="en-US" dirty="0">
                <a:latin typeface="Batang"/>
                <a:ea typeface="+mn-lt"/>
                <a:cs typeface="+mn-lt"/>
              </a:rPr>
              <a:t>balance level 3 (127 employees)</a:t>
            </a:r>
            <a:r>
              <a:rPr lang="en-US" b="0" dirty="0">
                <a:latin typeface="Batang"/>
                <a:ea typeface="+mn-lt"/>
                <a:cs typeface="+mn-lt"/>
              </a:rPr>
              <a:t>, showing that moderate balance perception doesn’t ensure retention.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Both poor and excellent balance levels show fewer exits.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Analytical Link: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dirty="0">
                <a:latin typeface="Batang"/>
                <a:ea typeface="+mn-lt"/>
                <a:cs typeface="+mn-lt"/>
              </a:rPr>
              <a:t>Employees with lower satisfaction or moderate work-life balance tend to leave more often</a:t>
            </a:r>
            <a:r>
              <a:rPr lang="en-US" b="0" dirty="0">
                <a:latin typeface="Batang"/>
                <a:ea typeface="+mn-lt"/>
                <a:cs typeface="+mn-lt"/>
              </a:rPr>
              <a:t>, regardless of income growth.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This suggests </a:t>
            </a:r>
            <a:r>
              <a:rPr lang="en-US" dirty="0">
                <a:latin typeface="Batang"/>
                <a:ea typeface="+mn-lt"/>
                <a:cs typeface="+mn-lt"/>
              </a:rPr>
              <a:t>qualitative workplace factors</a:t>
            </a:r>
            <a:r>
              <a:rPr lang="en-US" b="0" dirty="0">
                <a:latin typeface="Batang"/>
                <a:ea typeface="+mn-lt"/>
                <a:cs typeface="+mn-lt"/>
              </a:rPr>
              <a:t> (like satisfaction and work-life balance) influence attrition </a:t>
            </a:r>
            <a:r>
              <a:rPr lang="en-US" dirty="0">
                <a:latin typeface="Batang"/>
                <a:ea typeface="+mn-lt"/>
                <a:cs typeface="+mn-lt"/>
              </a:rPr>
              <a:t>more than pay alone</a:t>
            </a:r>
            <a:r>
              <a:rPr lang="en-US" b="0" dirty="0">
                <a:latin typeface="Batang"/>
                <a:ea typeface="+mn-lt"/>
                <a:cs typeface="+mn-lt"/>
              </a:rPr>
              <a:t>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xmlns="" id="{95BEA07F-BA9E-AE2B-977C-1754E3C5F0A6}"/>
              </a:ext>
            </a:extLst>
          </p:cNvPr>
          <p:cNvCxnSpPr/>
          <p:nvPr/>
        </p:nvCxnSpPr>
        <p:spPr>
          <a:xfrm flipV="1">
            <a:off x="5872871" y="2682107"/>
            <a:ext cx="274504" cy="8911"/>
          </a:xfrm>
          <a:prstGeom prst="straightConnector1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4583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4955823"/>
              </p:ext>
            </p:extLst>
          </p:nvPr>
        </p:nvGraphicFramePr>
        <p:xfrm>
          <a:off x="0" y="0"/>
          <a:ext cx="8820472" cy="45091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4" name="Worksheet" r:id="rId3" imgW="12201357" imgH="5153068" progId="Excel.Sheet.12">
                  <p:embed/>
                </p:oleObj>
              </mc:Choice>
              <mc:Fallback>
                <p:oleObj name="Worksheet" r:id="rId3" imgW="12201357" imgH="515306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8820472" cy="45091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38937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C45713-360B-6DB0-C77D-B9CFC81B9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1717232"/>
            <a:ext cx="7520940" cy="1138111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Attrition Analysis and Key Insights</a:t>
            </a:r>
            <a:endParaRPr lang="en-US" dirty="0">
              <a:latin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1782529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xmlns="" id="{4038B1D1-BF39-43F5-409E-E077A2D2C3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7666883"/>
              </p:ext>
            </p:extLst>
          </p:nvPr>
        </p:nvGraphicFramePr>
        <p:xfrm>
          <a:off x="115378" y="508869"/>
          <a:ext cx="8908571" cy="4067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96855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xmlns="" id="{EDF3B91F-27B7-5CA6-3712-BCA9A09550F7}"/>
              </a:ext>
              <a:ext uri="{147F2762-F138-4A5C-976F-8EAC2B608ADB}">
                <a16:predDERef xmlns:a16="http://schemas.microsoft.com/office/drawing/2014/main" xmlns="" pred="{16697BD0-654F-D3EA-36A7-29F79BC245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1932158"/>
              </p:ext>
            </p:extLst>
          </p:nvPr>
        </p:nvGraphicFramePr>
        <p:xfrm>
          <a:off x="482002" y="234530"/>
          <a:ext cx="8189701" cy="450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64004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xmlns="" id="{AE09632A-6553-42F1-B034-62D58D768C69}"/>
              </a:ext>
              <a:ext uri="{147F2762-F138-4A5C-976F-8EAC2B608ADB}">
                <a16:predDERef xmlns:a16="http://schemas.microsoft.com/office/drawing/2014/main" xmlns="" pred="{EDF3B91F-27B7-5CA6-3712-BCA9A09550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8821556"/>
              </p:ext>
            </p:extLst>
          </p:nvPr>
        </p:nvGraphicFramePr>
        <p:xfrm>
          <a:off x="411732" y="369588"/>
          <a:ext cx="8287108" cy="4475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674524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5271997-F353-47BC-404D-ADDFBE059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Key Attrition Insights</a:t>
            </a:r>
            <a:endParaRPr lang="en-US" dirty="0">
              <a:latin typeface="Batang"/>
              <a:ea typeface="Batang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E665B95-3956-175E-FF08-CBEDB3F5EE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1</a:t>
            </a:r>
            <a:r>
              <a:rPr lang="en-US" dirty="0">
                <a:latin typeface="Batang"/>
                <a:ea typeface="+mn-lt"/>
                <a:cs typeface="+mn-lt"/>
              </a:rPr>
              <a:t>.</a:t>
            </a:r>
            <a:r>
              <a:rPr lang="en-US" b="0" dirty="0">
                <a:latin typeface="Batang"/>
                <a:ea typeface="+mn-lt"/>
                <a:cs typeface="+mn-lt"/>
              </a:rPr>
              <a:t> Higher attrition is observed among </a:t>
            </a:r>
            <a:r>
              <a:rPr lang="en-US" dirty="0">
                <a:latin typeface="Batang"/>
                <a:ea typeface="+mn-lt"/>
                <a:cs typeface="+mn-lt"/>
              </a:rPr>
              <a:t>younger (ages 24–35)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single</a:t>
            </a:r>
            <a:r>
              <a:rPr lang="en-US" b="0" dirty="0">
                <a:latin typeface="Batang"/>
                <a:ea typeface="+mn-lt"/>
                <a:cs typeface="+mn-lt"/>
              </a:rPr>
              <a:t> employees, indicating early-career instability and lower organizational attachment.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2.</a:t>
            </a:r>
            <a:r>
              <a:rPr lang="en-US" b="0" dirty="0">
                <a:latin typeface="Batang"/>
                <a:ea typeface="+mn-lt"/>
                <a:cs typeface="+mn-lt"/>
              </a:rPr>
              <a:t> </a:t>
            </a:r>
            <a:r>
              <a:rPr lang="en-US" dirty="0">
                <a:latin typeface="Batang"/>
                <a:ea typeface="+mn-lt"/>
                <a:cs typeface="+mn-lt"/>
              </a:rPr>
              <a:t>Research &amp; Development (961)</a:t>
            </a:r>
            <a:r>
              <a:rPr lang="en-US" b="0" dirty="0">
                <a:latin typeface="Batang"/>
                <a:ea typeface="+mn-lt"/>
                <a:cs typeface="+mn-lt"/>
              </a:rPr>
              <a:t> and </a:t>
            </a:r>
            <a:r>
              <a:rPr lang="en-US" dirty="0">
                <a:latin typeface="Batang"/>
                <a:ea typeface="+mn-lt"/>
                <a:cs typeface="+mn-lt"/>
              </a:rPr>
              <a:t>Sales (446)</a:t>
            </a:r>
            <a:r>
              <a:rPr lang="en-US" b="0" dirty="0">
                <a:latin typeface="Batang"/>
                <a:ea typeface="+mn-lt"/>
                <a:cs typeface="+mn-lt"/>
              </a:rPr>
              <a:t> departments show the </a:t>
            </a:r>
            <a:r>
              <a:rPr lang="en-US" dirty="0">
                <a:latin typeface="Batang"/>
                <a:ea typeface="+mn-lt"/>
                <a:cs typeface="+mn-lt"/>
              </a:rPr>
              <a:t>maximum turnover</a:t>
            </a:r>
            <a:r>
              <a:rPr lang="en-US" b="0" dirty="0">
                <a:latin typeface="Batang"/>
                <a:ea typeface="+mn-lt"/>
                <a:cs typeface="+mn-lt"/>
              </a:rPr>
              <a:t>, whereas </a:t>
            </a:r>
            <a:r>
              <a:rPr lang="en-US" dirty="0">
                <a:latin typeface="Batang"/>
                <a:ea typeface="+mn-lt"/>
                <a:cs typeface="+mn-lt"/>
              </a:rPr>
              <a:t>HR</a:t>
            </a:r>
            <a:r>
              <a:rPr lang="en-US" b="0" dirty="0">
                <a:latin typeface="Batang"/>
                <a:ea typeface="+mn-lt"/>
                <a:cs typeface="+mn-lt"/>
              </a:rPr>
              <a:t> records the least attrition.</a:t>
            </a:r>
            <a:endParaRPr lang="en-US" dirty="0">
              <a:latin typeface="Batang"/>
              <a:ea typeface="Batang"/>
            </a:endParaRPr>
          </a:p>
          <a:p>
            <a:r>
              <a:rPr lang="en-US" dirty="0">
                <a:latin typeface="Batang"/>
                <a:ea typeface="+mn-lt"/>
                <a:cs typeface="+mn-lt"/>
              </a:rPr>
              <a:t>3.</a:t>
            </a:r>
            <a:r>
              <a:rPr lang="en-US" b="0" dirty="0">
                <a:latin typeface="Batang"/>
                <a:ea typeface="+mn-lt"/>
                <a:cs typeface="+mn-lt"/>
              </a:rPr>
              <a:t> Employees with </a:t>
            </a:r>
            <a:r>
              <a:rPr lang="en-US" dirty="0">
                <a:latin typeface="Batang"/>
                <a:ea typeface="+mn-lt"/>
                <a:cs typeface="+mn-lt"/>
              </a:rPr>
              <a:t>better work-life balance ratings (3–4)</a:t>
            </a:r>
            <a:r>
              <a:rPr lang="en-US" b="0" dirty="0">
                <a:latin typeface="Batang"/>
                <a:ea typeface="+mn-lt"/>
                <a:cs typeface="+mn-lt"/>
              </a:rPr>
              <a:t> demonstrate </a:t>
            </a:r>
            <a:r>
              <a:rPr lang="en-US" dirty="0">
                <a:latin typeface="Batang"/>
                <a:ea typeface="+mn-lt"/>
                <a:cs typeface="+mn-lt"/>
              </a:rPr>
              <a:t>stronger retention</a:t>
            </a:r>
            <a:r>
              <a:rPr lang="en-US" b="0" dirty="0">
                <a:latin typeface="Batang"/>
                <a:ea typeface="+mn-lt"/>
                <a:cs typeface="+mn-lt"/>
              </a:rPr>
              <a:t>, highlighting the importance of work-life support initiatives.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0561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C3DF44B-4C4C-B0E2-D5EE-93FAF506A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583" y="265118"/>
            <a:ext cx="7520940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Batang"/>
              </a:rPr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BAE4E2D-C7F4-7557-D2D4-4773A4D1B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017" y="985609"/>
            <a:ext cx="8326071" cy="556392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ea typeface="+mn-lt"/>
                <a:cs typeface="+mn-lt"/>
              </a:rPr>
              <a:t>1. </a:t>
            </a:r>
            <a:r>
              <a:rPr lang="en-US" dirty="0">
                <a:latin typeface="Batang"/>
                <a:ea typeface="+mn-lt"/>
                <a:cs typeface="+mn-lt"/>
              </a:rPr>
              <a:t>Strengthen Retention &amp; Engagement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Focus on younger and single employees through mentorship and growth programs.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Conduct stay interviews to identify key motivators and turnover triggers.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2. Enhance Job Satisfaction &amp; Career Growth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Offer skill-building and role rotation opportunities to reduce stagnation.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Recognize and reward high performers regularly to boost morale.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3. Optimize Departmental Policies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Provide tailored workload and incentive structures in R&amp;D and Sales.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Encourage interdepartmental collaboration for a better work environment.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4. Promote Work-Life Balance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Implement flexible schedules and wellness initiatives.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>
                <a:latin typeface="Batang"/>
                <a:ea typeface="+mn-lt"/>
                <a:cs typeface="+mn-lt"/>
              </a:rPr>
              <a:t>Train managers to proactively address workload stress.</a:t>
            </a:r>
            <a:endParaRPr lang="en-US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5. Reassess Compensation &amp; Recognition Systems</a:t>
            </a:r>
            <a:endParaRPr lang="en-US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Align pay scales with contributions and performance.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Communicate promotion criteria transparently.</a:t>
            </a:r>
            <a:endParaRPr lang="en-US" dirty="0">
              <a:latin typeface="Batang"/>
              <a:ea typeface="Batang"/>
              <a:cs typeface="+mn-lt"/>
            </a:endParaRPr>
          </a:p>
          <a:p>
            <a:pPr marL="0" indent="0"/>
            <a:r>
              <a:rPr lang="en-US" dirty="0">
                <a:latin typeface="Batang"/>
                <a:ea typeface="+mn-lt"/>
                <a:cs typeface="+mn-lt"/>
              </a:rPr>
              <a:t>6. Leverage Data-Driven HR Decisions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Maintain a live dashboard to track satisfaction, retention, and performance trends.</a:t>
            </a:r>
            <a:endParaRPr lang="en-US" dirty="0">
              <a:latin typeface="Batang"/>
              <a:ea typeface="Batang"/>
            </a:endParaRPr>
          </a:p>
          <a:p>
            <a:pPr marL="285750" indent="-285750">
              <a:buFont typeface="Arial"/>
              <a:buChar char="•"/>
            </a:pPr>
            <a:r>
              <a:rPr lang="en-US" b="0" dirty="0">
                <a:latin typeface="Batang"/>
                <a:ea typeface="+mn-lt"/>
                <a:cs typeface="+mn-lt"/>
              </a:rPr>
              <a:t>Use predictive analytics to anticipate attrition and workforce needs.</a:t>
            </a:r>
            <a:endParaRPr lang="en-US" dirty="0">
              <a:latin typeface="Batang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724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75673D-31A7-1109-A350-1AD260E78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8319" y="2033533"/>
            <a:ext cx="3121468" cy="548640"/>
          </a:xfrm>
        </p:spPr>
        <p:txBody>
          <a:bodyPr/>
          <a:lstStyle/>
          <a:p>
            <a:pPr algn="ctr"/>
            <a:r>
              <a:rPr lang="en-US" dirty="0">
                <a:latin typeface="Batang"/>
                <a:ea typeface="+mj-lt"/>
                <a:cs typeface="+mj-lt"/>
              </a:rPr>
              <a:t>Thank You</a:t>
            </a:r>
            <a:endParaRPr lang="en-US" dirty="0">
              <a:latin typeface="Batang"/>
              <a:ea typeface="Batang"/>
            </a:endParaRPr>
          </a:p>
        </p:txBody>
      </p:sp>
    </p:spTree>
    <p:extLst>
      <p:ext uri="{BB962C8B-B14F-4D97-AF65-F5344CB8AC3E}">
        <p14:creationId xmlns:p14="http://schemas.microsoft.com/office/powerpoint/2010/main" val="8027901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ngles">
  <a:themeElements>
    <a:clrScheme name="Foundry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Angles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微软雅黑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隶书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ngle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20400000"/>
            </a:lightRig>
          </a:scene3d>
          <a:sp3d contourW="6350">
            <a:bevelT w="41275" h="19050" prst="angle"/>
            <a:contourClr>
              <a:schemeClr val="phClr">
                <a:shade val="25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0000"/>
                <a:shade val="85000"/>
              </a:schemeClr>
              <a:schemeClr val="phClr">
                <a:tint val="95000"/>
                <a:shade val="99000"/>
              </a:schemeClr>
            </a:duotone>
          </a:blip>
          <a:tile tx="0" ty="0" sx="100000" sy="10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3000"/>
                <a:shade val="85000"/>
              </a:schemeClr>
              <a:schemeClr val="phClr">
                <a:tint val="96000"/>
                <a:shade val="99000"/>
              </a:schemeClr>
            </a:duotone>
          </a:blip>
          <a:tile tx="0" ty="0" sx="90000" sy="9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Angles</Template>
  <TotalTime>2670</TotalTime>
  <Words>764</Words>
  <Application>Microsoft Office PowerPoint</Application>
  <PresentationFormat>On-screen Show (4:3)</PresentationFormat>
  <Paragraphs>166</Paragraphs>
  <Slides>24</Slides>
  <Notes>3</Notes>
  <HiddenSlides>0</HiddenSlides>
  <MMClips>0</MMClips>
  <ScaleCrop>false</ScaleCrop>
  <HeadingPairs>
    <vt:vector size="6" baseType="variant"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Angles</vt:lpstr>
      <vt:lpstr>Worksheet</vt:lpstr>
      <vt:lpstr>HR Analytics Dashboard – Employee Insights 2025 Based on company HR data (2024–2025) Presented by Nora Data Entry Executive 📧 shreyaalphaguha@gmail.com Date: November 2025</vt:lpstr>
      <vt:lpstr>PowerPoint Presentation</vt:lpstr>
      <vt:lpstr>PowerPoint Presentation</vt:lpstr>
      <vt:lpstr>Key Metrics</vt:lpstr>
      <vt:lpstr>PowerPoint Presentation</vt:lpstr>
      <vt:lpstr>Key Metrics Summary</vt:lpstr>
      <vt:lpstr>Visual Insights – Attrition Employee Attrition Analysis </vt:lpstr>
      <vt:lpstr>PowerPoint Presentation</vt:lpstr>
      <vt:lpstr>PowerPoint Presentation</vt:lpstr>
      <vt:lpstr>PowerPoint Presentation</vt:lpstr>
      <vt:lpstr>Attrition Analysis Summary</vt:lpstr>
      <vt:lpstr>Visual Insights – Satisfaction &amp; Compensation</vt:lpstr>
      <vt:lpstr>PowerPoint Presentation</vt:lpstr>
      <vt:lpstr>PowerPoint Presentation</vt:lpstr>
      <vt:lpstr>PowerPoint Presentation</vt:lpstr>
      <vt:lpstr>Attrition Correlation Insights</vt:lpstr>
      <vt:lpstr>PowerPoint Presentation</vt:lpstr>
      <vt:lpstr>Attrition Analysis and Key Insights</vt:lpstr>
      <vt:lpstr>PowerPoint Presentation</vt:lpstr>
      <vt:lpstr>PowerPoint Presentation</vt:lpstr>
      <vt:lpstr>PowerPoint Presentation</vt:lpstr>
      <vt:lpstr>Key Attrition Insights</vt:lpstr>
      <vt:lpstr>Recommendations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HR Analytics Dashboard – Employee Insights 2025 Based on company HR data (2024–2025) Presented by  nora  Data Entry Executive nora@gmail.com Date: November 2025</dc:title>
  <dc:creator>USER</dc:creator>
  <cp:lastModifiedBy>USER</cp:lastModifiedBy>
  <cp:revision>364</cp:revision>
  <dcterms:created xsi:type="dcterms:W3CDTF">2025-11-04T08:12:28Z</dcterms:created>
  <dcterms:modified xsi:type="dcterms:W3CDTF">2025-11-09T13:29:12Z</dcterms:modified>
</cp:coreProperties>
</file>