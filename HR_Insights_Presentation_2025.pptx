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rts/style1.xml" ContentType="application/vnd.ms-office.chartstyle+xml"/>
  <Override PartName="/ppt/charts/colors1.xml" ContentType="application/vnd.ms-office.chartcolorstyle+xml"/>
  <Override PartName="/ppt/charts/style2.xml" ContentType="application/vnd.ms-office.chartstyle+xml"/>
  <Override PartName="/ppt/charts/colors2.xml" ContentType="application/vnd.ms-office.chartcolorstyle+xml"/>
  <Override PartName="/ppt/charts/style3.xml" ContentType="application/vnd.ms-office.chartstyle+xml"/>
  <Override PartName="/ppt/charts/colors3.xml" ContentType="application/vnd.ms-office.chartcolorstyle+xml"/>
  <Override PartName="/ppt/charts/style4.xml" ContentType="application/vnd.ms-office.chartstyle+xml"/>
  <Override PartName="/ppt/charts/colors4.xml" ContentType="application/vnd.ms-office.chartcolorstyle+xml"/>
  <Override PartName="/ppt/charts/style5.xml" ContentType="application/vnd.ms-office.chartstyle+xml"/>
  <Override PartName="/ppt/charts/colors5.xml" ContentType="application/vnd.ms-office.chartcolorstyle+xml"/>
  <Override PartName="/ppt/charts/style6.xml" ContentType="application/vnd.ms-office.chartstyle+xml"/>
  <Override PartName="/ppt/charts/colors6.xml" ContentType="application/vnd.ms-office.chartcolorstyle+xml"/>
  <Override PartName="/ppt/charts/style7.xml" ContentType="application/vnd.ms-office.chartstyle+xml"/>
  <Override PartName="/ppt/charts/colors7.xml" ContentType="application/vnd.ms-office.chartcolorstyle+xml"/>
  <Override PartName="/ppt/charts/style8.xml" ContentType="application/vnd.ms-office.chartstyle+xml"/>
  <Override PartName="/ppt/charts/colors8.xml" ContentType="application/vnd.ms-office.chartcolorstyle+xml"/>
  <Override PartName="/ppt/charts/style9.xml" ContentType="application/vnd.ms-office.chartstyle+xml"/>
  <Override PartName="/ppt/charts/colors9.xml" ContentType="application/vnd.ms-office.chartcolorstyle+xml"/>
  <Override PartName="/ppt/charts/style10.xml" ContentType="application/vnd.ms-office.chartstyle+xml"/>
  <Override PartName="/ppt/charts/colors10.xml" ContentType="application/vnd.ms-office.chartcolor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6"/>
  </p:notesMasterIdLst>
  <p:sldIdLst>
    <p:sldId id="256" r:id="rId2"/>
    <p:sldId id="257" r:id="rId3"/>
    <p:sldId id="258" r:id="rId4"/>
    <p:sldId id="260" r:id="rId5"/>
    <p:sldId id="261" r:id="rId6"/>
    <p:sldId id="262" r:id="rId7"/>
    <p:sldId id="272" r:id="rId8"/>
    <p:sldId id="269" r:id="rId9"/>
    <p:sldId id="270" r:id="rId10"/>
    <p:sldId id="271" r:id="rId11"/>
    <p:sldId id="277" r:id="rId12"/>
    <p:sldId id="273" r:id="rId13"/>
    <p:sldId id="274" r:id="rId14"/>
    <p:sldId id="275" r:id="rId15"/>
    <p:sldId id="276" r:id="rId16"/>
    <p:sldId id="279" r:id="rId17"/>
    <p:sldId id="288" r:id="rId18"/>
    <p:sldId id="285" r:id="rId19"/>
    <p:sldId id="282" r:id="rId20"/>
    <p:sldId id="283" r:id="rId21"/>
    <p:sldId id="284" r:id="rId22"/>
    <p:sldId id="281" r:id="rId23"/>
    <p:sldId id="286" r:id="rId24"/>
    <p:sldId id="287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3BE1EB-0BEF-7B52-EF6C-CA369AA6A0D6}" v="216" dt="2025-11-08T06:02:01.187"/>
    <p1510:client id="{6D097417-46F8-40E8-823D-27A36BBDC10F}" v="134" dt="2025-11-07T18:47:53.773"/>
    <p1510:client id="{B1F37580-1034-882F-9764-7E1F6E968B67}" v="138" dt="2025-11-08T16:08: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87011" autoAdjust="0"/>
  </p:normalViewPr>
  <p:slideViewPr>
    <p:cSldViewPr>
      <p:cViewPr>
        <p:scale>
          <a:sx n="82" d="100"/>
          <a:sy n="82" d="100"/>
        </p:scale>
        <p:origin x="-1032" y="6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oleObject" Target="https://d.docs.live.net/6143677FF8E75AE4/HR_Analysis%20(2)1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Style" Target="style2.xml"/><Relationship Id="rId2" Type="http://schemas.microsoft.com/office/2011/relationships/chartColorStyle" Target="colors2.xml"/><Relationship Id="rId1" Type="http://schemas.openxmlformats.org/officeDocument/2006/relationships/oleObject" Target="https://d.docs.live.net/6143677FF8E75AE4/HR_Analysis%20(2)1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Style" Target="style3.xml"/><Relationship Id="rId2" Type="http://schemas.microsoft.com/office/2011/relationships/chartColorStyle" Target="colors3.xml"/><Relationship Id="rId1" Type="http://schemas.openxmlformats.org/officeDocument/2006/relationships/oleObject" Target="https://d.docs.live.net/6143677FF8E75AE4/HR_Analysis%20(2)1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Style" Target="style4.xml"/><Relationship Id="rId2" Type="http://schemas.microsoft.com/office/2011/relationships/chartColorStyle" Target="colors4.xml"/><Relationship Id="rId1" Type="http://schemas.openxmlformats.org/officeDocument/2006/relationships/oleObject" Target="https://d.docs.live.net/6143677FF8E75AE4/HR_Analysis%20(2)1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Style" Target="style5.xml"/><Relationship Id="rId2" Type="http://schemas.microsoft.com/office/2011/relationships/chartColorStyle" Target="colors5.xml"/><Relationship Id="rId1" Type="http://schemas.openxmlformats.org/officeDocument/2006/relationships/oleObject" Target="https://d.docs.live.net/6143677FF8E75AE4/HR_Analysis%20(2)1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Style" Target="style6.xml"/><Relationship Id="rId2" Type="http://schemas.microsoft.com/office/2011/relationships/chartColorStyle" Target="colors6.xml"/><Relationship Id="rId1" Type="http://schemas.openxmlformats.org/officeDocument/2006/relationships/oleObject" Target="https://d.docs.live.net/6143677FF8E75AE4/HR_Analysis%20(2)1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Style" Target="style7.xml"/><Relationship Id="rId2" Type="http://schemas.microsoft.com/office/2011/relationships/chartColorStyle" Target="colors7.xml"/><Relationship Id="rId1" Type="http://schemas.openxmlformats.org/officeDocument/2006/relationships/oleObject" Target="https://d.docs.live.net/6143677FF8E75AE4/HR_Analysis%20(2)1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Style" Target="style8.xml"/><Relationship Id="rId2" Type="http://schemas.microsoft.com/office/2011/relationships/chartColorStyle" Target="colors8.xml"/><Relationship Id="rId1" Type="http://schemas.openxmlformats.org/officeDocument/2006/relationships/oleObject" Target="https://d.docs.live.net/6143677FF8E75AE4/HR_Analysis%20(2)1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Style" Target="style9.xml"/><Relationship Id="rId2" Type="http://schemas.microsoft.com/office/2011/relationships/chartColorStyle" Target="colors9.xml"/><Relationship Id="rId1" Type="http://schemas.openxmlformats.org/officeDocument/2006/relationships/oleObject" Target="https://d.docs.live.net/6143677FF8E75AE4/HR_Analysis%20(2)1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Style" Target="style10.xml"/><Relationship Id="rId2" Type="http://schemas.microsoft.com/office/2011/relationships/chartColorStyle" Target="colors10.xml"/><Relationship Id="rId1" Type="http://schemas.openxmlformats.org/officeDocument/2006/relationships/oleObject" Target="https://d.docs.live.net/6143677FF8E75AE4/HR_Analysis%20(2)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[HR_Analysis (2)1.xlsx]2. Pivot Tables!PivotTable2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Department-wise Attrition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rgbClr val="009CF0"/>
          </a:solidFill>
          <a:ln>
            <a:noFill/>
          </a:ln>
          <a:effectLst/>
        </c:spPr>
        <c:marker>
          <c:symbol val="circle"/>
          <c:size val="5"/>
          <c:spPr>
            <a:solidFill>
              <a:srgbClr val="637CEF"/>
            </a:solidFill>
            <a:ln w="9525">
              <a:solidFill>
                <a:srgbClr val="637CEF"/>
              </a:solidFill>
            </a:ln>
            <a:effectLst/>
          </c:spPr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009CF0"/>
          </a:solidFill>
          <a:ln>
            <a:solidFill>
              <a:srgbClr val="FFFFFF"/>
            </a:solidFill>
            <a:prstDash val="solid"/>
          </a:ln>
          <a:effectLst/>
        </c:spPr>
      </c:pivotFmt>
      <c:pivotFmt>
        <c:idx val="2"/>
        <c:spPr>
          <a:solidFill>
            <a:srgbClr val="009CF0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009CF0"/>
          </a:solidFill>
          <a:ln>
            <a:solidFill>
              <a:srgbClr val="FFFFFF"/>
            </a:solidFill>
            <a:prstDash val="solid"/>
          </a:ln>
          <a:effectLst/>
        </c:spPr>
      </c:pivotFmt>
      <c:pivotFmt>
        <c:idx val="4"/>
        <c:spPr>
          <a:solidFill>
            <a:srgbClr val="009CF0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009CF0"/>
          </a:solidFill>
          <a:ln>
            <a:solidFill>
              <a:srgbClr val="FFFFFF"/>
            </a:solidFill>
            <a:prstDash val="solid"/>
          </a:ln>
          <a:effectLst/>
        </c:spPr>
      </c:pivotFmt>
      <c:pivotFmt>
        <c:idx val="6"/>
        <c:spPr>
          <a:solidFill>
            <a:srgbClr val="009CF0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009CF0"/>
          </a:solidFill>
          <a:ln>
            <a:solidFill>
              <a:srgbClr val="FFFFFF"/>
            </a:solidFill>
            <a:prstDash val="solid"/>
          </a:ln>
          <a:effectLst/>
        </c:spPr>
      </c:pivotFmt>
      <c:pivotFmt>
        <c:idx val="8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</c:pivotFmt>
      <c:pivotFmt>
        <c:idx val="10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</c:pivotFmt>
      <c:pivotFmt>
        <c:idx val="12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</c:pivotFmt>
      <c:pivotFmt>
        <c:idx val="14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</c:pivotFmt>
      <c:pivotFmt>
        <c:idx val="16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</c:pivotFmt>
      <c:pivotFmt>
        <c:idx val="18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</c:pivotFmt>
      <c:pivotFmt>
        <c:idx val="20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</c:pivotFmt>
      <c:pivotFmt>
        <c:idx val="22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'2. Pivot Tables'!$C$28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9C2FA"/>
            </a:solidFill>
            <a:ln>
              <a:solidFill>
                <a:srgbClr val="B1A0C7"/>
              </a:solidFill>
              <a:prstDash val="solid"/>
            </a:ln>
            <a:effectLst/>
          </c:spPr>
          <c:invertIfNegative val="0"/>
          <c:dPt>
            <c:idx val="1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01D8-4887-ADF1-2F971821F420}"/>
              </c:ext>
            </c:extLst>
          </c:dPt>
          <c:cat>
            <c:strRef>
              <c:f>'2. Pivot Tables'!$B$29:$B$32</c:f>
              <c:strCache>
                <c:ptCount val="3"/>
                <c:pt idx="0">
                  <c:v>Human Resources</c:v>
                </c:pt>
                <c:pt idx="1">
                  <c:v>Research &amp; Development</c:v>
                </c:pt>
                <c:pt idx="2">
                  <c:v>Sales</c:v>
                </c:pt>
              </c:strCache>
            </c:strRef>
          </c:cat>
          <c:val>
            <c:numRef>
              <c:f>'2. Pivot Tables'!$C$29:$C$32</c:f>
              <c:numCache>
                <c:formatCode>General</c:formatCode>
                <c:ptCount val="3"/>
                <c:pt idx="0">
                  <c:v>63</c:v>
                </c:pt>
                <c:pt idx="1">
                  <c:v>961</c:v>
                </c:pt>
                <c:pt idx="2">
                  <c:v>446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1D8-4887-ADF1-2F971821F4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71661568"/>
        <c:axId val="171671936"/>
      </c:barChart>
      <c:catAx>
        <c:axId val="17166156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Departments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671936"/>
        <c:crosses val="autoZero"/>
        <c:auto val="1"/>
        <c:lblAlgn val="ctr"/>
        <c:lblOffset val="100"/>
        <c:noMultiLvlLbl val="0"/>
      </c:catAx>
      <c:valAx>
        <c:axId val="17167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Count of Attrition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661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99FFCC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extLst xmlns:c16r2="http://schemas.microsoft.com/office/drawing/2015/06/chart">
    <c:ext xmlns:c16="http://schemas.microsoft.com/office/drawing/2014/chart" uri="{E28EC0CA-F0BB-4C9C-879D-F8772B89E7AC}">
      <c16:pivotOptions16>
        <c16:showExpandCollapseFieldButtons val="1"/>
      </c16:pivotOptions16>
    </c:ext>
    <c:ext xmlns:c14="http://schemas.microsoft.com/office/drawing/2007/8/2/chart" uri="{781A3756-C4B2-4CAC-9D66-4F8BD8637D16}">
      <c14:pivotOptions>
        <c14:dropZoneSeries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[HR_Analysis (2)1.xlsx]Sheet1!PivotTable1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Job Role-wise Attrition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rgbClr val="FFFF00"/>
          </a:solidFill>
          <a:ln>
            <a:solidFill>
              <a:srgbClr val="B1A0C7"/>
            </a:solidFill>
            <a:prstDash val="solid"/>
          </a:ln>
          <a:effectLst/>
        </c:spPr>
        <c:marker>
          <c:symbol val="circle"/>
          <c:size val="5"/>
          <c:spPr>
            <a:solidFill>
              <a:srgbClr val="637CEF"/>
            </a:solidFill>
            <a:ln w="9525">
              <a:solidFill>
                <a:srgbClr val="637CEF"/>
              </a:solidFill>
            </a:ln>
            <a:effectLst/>
          </c:spPr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FF00"/>
          </a:solidFill>
          <a:ln>
            <a:solidFill>
              <a:srgbClr val="B1A0C7"/>
            </a:solidFill>
            <a:prstDash val="solid"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FFFF00"/>
          </a:solidFill>
          <a:ln>
            <a:solidFill>
              <a:srgbClr val="B1A0C7"/>
            </a:solidFill>
            <a:prstDash val="solid"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FF00"/>
            </a:solidFill>
            <a:ln>
              <a:solidFill>
                <a:srgbClr val="B1A0C7"/>
              </a:solidFill>
              <a:prstDash val="solid"/>
            </a:ln>
            <a:effectLst/>
          </c:spPr>
          <c:invertIfNegative val="0"/>
          <c:cat>
            <c:strRef>
              <c:f>Sheet1!$B$2:$B$11</c:f>
              <c:strCache>
                <c:ptCount val="9"/>
                <c:pt idx="0">
                  <c:v>Healthcare Representative</c:v>
                </c:pt>
                <c:pt idx="1">
                  <c:v>Human Resources</c:v>
                </c:pt>
                <c:pt idx="2">
                  <c:v>Laboratory Technician</c:v>
                </c:pt>
                <c:pt idx="3">
                  <c:v>Manager</c:v>
                </c:pt>
                <c:pt idx="4">
                  <c:v>Manufacturing Director</c:v>
                </c:pt>
                <c:pt idx="5">
                  <c:v>Research Director</c:v>
                </c:pt>
                <c:pt idx="6">
                  <c:v>Research Scientist</c:v>
                </c:pt>
                <c:pt idx="7">
                  <c:v>Sales Executive</c:v>
                </c:pt>
                <c:pt idx="8">
                  <c:v>Sales Representative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9"/>
                <c:pt idx="0">
                  <c:v>131</c:v>
                </c:pt>
                <c:pt idx="1">
                  <c:v>52</c:v>
                </c:pt>
                <c:pt idx="2">
                  <c:v>259</c:v>
                </c:pt>
                <c:pt idx="3">
                  <c:v>102</c:v>
                </c:pt>
                <c:pt idx="4">
                  <c:v>145</c:v>
                </c:pt>
                <c:pt idx="5">
                  <c:v>80</c:v>
                </c:pt>
                <c:pt idx="6">
                  <c:v>292</c:v>
                </c:pt>
                <c:pt idx="7">
                  <c:v>326</c:v>
                </c:pt>
                <c:pt idx="8">
                  <c:v>83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B441-47DE-9B87-0D332CFB34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7410176"/>
        <c:axId val="197420160"/>
      </c:barChart>
      <c:catAx>
        <c:axId val="197410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420160"/>
        <c:crosses val="autoZero"/>
        <c:auto val="1"/>
        <c:lblAlgn val="ctr"/>
        <c:lblOffset val="100"/>
        <c:noMultiLvlLbl val="0"/>
      </c:catAx>
      <c:valAx>
        <c:axId val="197420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Count of Attrition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410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D9FF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extLst xmlns:c16r2="http://schemas.microsoft.com/office/drawing/2015/06/chart">
    <c:ext xmlns:c16="http://schemas.microsoft.com/office/drawing/2014/chart" uri="{E28EC0CA-F0BB-4C9C-879D-F8772B89E7AC}">
      <c16:pivotOptions16>
        <c16:showExpandCollapseFieldButtons val="1"/>
      </c16:pivotOptions16>
    </c:ext>
    <c:ext xmlns:c14="http://schemas.microsoft.com/office/drawing/2007/8/2/chart" uri="{781A3756-C4B2-4CAC-9D66-4F8BD8637D16}">
      <c14:pivotOptions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Gender-wise Attrition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Sheet1!$F$14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rgbClr val="FFFF00"/>
            </a:solidFill>
          </c:spPr>
          <c:dPt>
            <c:idx val="0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6810-48FC-BEB5-B6727A27611D}"/>
              </c:ext>
            </c:extLst>
          </c:dPt>
          <c:dPt>
            <c:idx val="1"/>
            <c:bubble3D val="0"/>
            <c:spPr>
              <a:solidFill>
                <a:srgbClr val="99FFCC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810-48FC-BEB5-B6727A27611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Sheet1!$E$15:$E$16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Sheet1!$F$15:$F$16</c:f>
              <c:numCache>
                <c:formatCode>General</c:formatCode>
                <c:ptCount val="2"/>
                <c:pt idx="0">
                  <c:v>87</c:v>
                </c:pt>
                <c:pt idx="1">
                  <c:v>150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6810-48FC-BEB5-B6727A2761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Job Satisfaction vs Attrition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Sheet1!$G$31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rgbClr val="CCFF33"/>
            </a:solidFill>
            <a:ln>
              <a:solidFill>
                <a:srgbClr val="92D050"/>
              </a:solidFill>
              <a:prstDash val="solid"/>
            </a:ln>
            <a:effectLst/>
          </c:spPr>
          <c:invertIfNegative val="0"/>
          <c:cat>
            <c:multiLvlStrRef>
              <c:f>Sheet1!$H$29:$K$30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  <c:lvl>
                  <c:pt idx="0">
                    <c:v>Job Satisfaction</c:v>
                  </c:pt>
                </c:lvl>
              </c:multiLvlStrCache>
            </c:multiLvlStrRef>
          </c:cat>
          <c:val>
            <c:numRef>
              <c:f>Sheet1!$H$31:$K$31</c:f>
              <c:numCache>
                <c:formatCode>General</c:formatCode>
                <c:ptCount val="4"/>
                <c:pt idx="0">
                  <c:v>66</c:v>
                </c:pt>
                <c:pt idx="1">
                  <c:v>46</c:v>
                </c:pt>
                <c:pt idx="2">
                  <c:v>73</c:v>
                </c:pt>
                <c:pt idx="3">
                  <c:v>52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A99-4066-9882-7F7CC7FA9A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8711168"/>
        <c:axId val="198712704"/>
      </c:barChart>
      <c:catAx>
        <c:axId val="198711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rgbClr val="FFFFBD"/>
          </a:solidFill>
          <a:ln w="9525" cap="flat" cmpd="sng" algn="ctr">
            <a:solidFill>
              <a:srgbClr val="FFFFBD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712704"/>
        <c:crosses val="autoZero"/>
        <c:auto val="1"/>
        <c:lblAlgn val="ctr"/>
        <c:lblOffset val="100"/>
        <c:noMultiLvlLbl val="0"/>
      </c:catAx>
      <c:valAx>
        <c:axId val="198712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Count of Attrition </a:t>
                </a:r>
              </a:p>
            </c:rich>
          </c:tx>
          <c:layout>
            <c:manualLayout>
              <c:xMode val="edge"/>
              <c:yMode val="edge"/>
              <c:x val="1.2854515076884555E-2"/>
              <c:y val="0.22977996615508345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711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BD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[HR_Analysis (2)1.xlsx]Sheet1!PivotTable5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 Income vs Job Level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rgbClr val="99FFCC"/>
          </a:solidFill>
          <a:ln>
            <a:solidFill>
              <a:srgbClr val="0070C0"/>
            </a:solidFill>
            <a:prstDash val="solid"/>
          </a:ln>
          <a:effectLst/>
        </c:spPr>
        <c:marker>
          <c:symbol val="circle"/>
          <c:size val="5"/>
          <c:spPr>
            <a:solidFill>
              <a:srgbClr val="637CEF"/>
            </a:solidFill>
            <a:ln w="9525">
              <a:solidFill>
                <a:srgbClr val="637CEF"/>
              </a:solidFill>
            </a:ln>
            <a:effectLst/>
          </c:spPr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99FFCC"/>
          </a:solidFill>
          <a:ln>
            <a:solidFill>
              <a:srgbClr val="0070C0"/>
            </a:solidFill>
            <a:prstDash val="solid"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99FFCC"/>
          </a:solidFill>
          <a:ln>
            <a:solidFill>
              <a:srgbClr val="0070C0"/>
            </a:solidFill>
            <a:prstDash val="solid"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Sheet1!$B$44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99FFCC"/>
            </a:solidFill>
            <a:ln>
              <a:solidFill>
                <a:srgbClr val="0070C0"/>
              </a:solidFill>
              <a:prstDash val="solid"/>
            </a:ln>
            <a:effectLst/>
          </c:spPr>
          <c:invertIfNegative val="0"/>
          <c:cat>
            <c:strRef>
              <c:f>Sheet1!$A$45:$A$50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Sheet1!$B$45:$B$50</c:f>
              <c:numCache>
                <c:formatCode>0.00</c:formatCode>
                <c:ptCount val="5"/>
                <c:pt idx="0">
                  <c:v>2786.9152854511972</c:v>
                </c:pt>
                <c:pt idx="1">
                  <c:v>5502.2771535580523</c:v>
                </c:pt>
                <c:pt idx="2">
                  <c:v>9817.2522935779816</c:v>
                </c:pt>
                <c:pt idx="3">
                  <c:v>15503.783018867925</c:v>
                </c:pt>
                <c:pt idx="4">
                  <c:v>19191.82608695652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F6E3-49D4-BB27-CABFDA6BB9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98761088"/>
        <c:axId val="198767360"/>
      </c:barChart>
      <c:catAx>
        <c:axId val="19876108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Job Level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767360"/>
        <c:crosses val="autoZero"/>
        <c:auto val="1"/>
        <c:lblAlgn val="ctr"/>
        <c:lblOffset val="100"/>
        <c:noMultiLvlLbl val="0"/>
      </c:catAx>
      <c:valAx>
        <c:axId val="1987673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538DD5"/>
              </a:solidFill>
              <a:prstDash val="solid"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Avg Monthly Income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>
            <a:solidFill>
              <a:srgbClr val="538DD5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761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C5D9F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extLst xmlns:c16r2="http://schemas.microsoft.com/office/drawing/2015/06/chart">
    <c:ext xmlns:c16="http://schemas.microsoft.com/office/drawing/2014/chart" uri="{E28EC0CA-F0BB-4C9C-879D-F8772B89E7AC}">
      <c16:pivotOptions16>
        <c16:showExpandCollapseFieldButtons val="1"/>
      </c16:pivotOptions16>
    </c:ext>
    <c:ext xmlns:c14="http://schemas.microsoft.com/office/drawing/2007/8/2/chart" uri="{781A3756-C4B2-4CAC-9D66-4F8BD8637D16}">
      <c14:pivotOptions>
        <c14:dropZonesVisible val="1"/>
      </c14:pivotOptions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Attrition Rate by Work-Life Balance Rating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Sheet1!$J$70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rgbClr val="FFFFBD"/>
            </a:solidFill>
            <a:ln>
              <a:noFill/>
            </a:ln>
            <a:effectLst/>
          </c:spPr>
          <c:invertIfNegative val="0"/>
          <c:cat>
            <c:multiLvlStrRef>
              <c:f>Sheet1!$K$68:$N$69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  <c:lvl>
                  <c:pt idx="0">
                    <c:v>Work Life Balance</c:v>
                  </c:pt>
                </c:lvl>
              </c:multiLvlStrCache>
            </c:multiLvlStrRef>
          </c:cat>
          <c:val>
            <c:numRef>
              <c:f>Sheet1!$K$70:$N$70</c:f>
              <c:numCache>
                <c:formatCode>General</c:formatCode>
                <c:ptCount val="4"/>
                <c:pt idx="0">
                  <c:v>25</c:v>
                </c:pt>
                <c:pt idx="1">
                  <c:v>58</c:v>
                </c:pt>
                <c:pt idx="2">
                  <c:v>127</c:v>
                </c:pt>
                <c:pt idx="3">
                  <c:v>27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15E5-4C2C-A90A-9BEAE3EC0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8535808"/>
        <c:axId val="198574464"/>
      </c:barChart>
      <c:catAx>
        <c:axId val="198535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009CF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574464"/>
        <c:crosses val="autoZero"/>
        <c:auto val="1"/>
        <c:lblAlgn val="ctr"/>
        <c:lblOffset val="100"/>
        <c:noMultiLvlLbl val="0"/>
      </c:catAx>
      <c:valAx>
        <c:axId val="198574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Attrition count</a:t>
                </a:r>
              </a:p>
            </c:rich>
          </c:tx>
          <c:layout>
            <c:manualLayout>
              <c:xMode val="edge"/>
              <c:yMode val="edge"/>
              <c:x val="1.1805555555555555E-2"/>
              <c:y val="0.3249307378244386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535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00B0F0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Attrition Rate by Work-Life Balance Rating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Sheet1!$J$70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rgbClr val="FFFFBD"/>
            </a:solidFill>
            <a:ln>
              <a:noFill/>
            </a:ln>
            <a:effectLst/>
          </c:spPr>
          <c:invertIfNegative val="0"/>
          <c:cat>
            <c:multiLvlStrRef>
              <c:f>Sheet1!$K$68:$N$69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  <c:lvl>
                  <c:pt idx="0">
                    <c:v>Work Life Balance</c:v>
                  </c:pt>
                </c:lvl>
              </c:multiLvlStrCache>
            </c:multiLvlStrRef>
          </c:cat>
          <c:val>
            <c:numRef>
              <c:f>Sheet1!$K$70:$N$70</c:f>
              <c:numCache>
                <c:formatCode>General</c:formatCode>
                <c:ptCount val="4"/>
                <c:pt idx="0">
                  <c:v>25</c:v>
                </c:pt>
                <c:pt idx="1">
                  <c:v>58</c:v>
                </c:pt>
                <c:pt idx="2">
                  <c:v>127</c:v>
                </c:pt>
                <c:pt idx="3">
                  <c:v>27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95ED-463A-A2D4-EEA01A0B20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8594944"/>
        <c:axId val="198596480"/>
      </c:barChart>
      <c:catAx>
        <c:axId val="198594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009CF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596480"/>
        <c:crosses val="autoZero"/>
        <c:auto val="1"/>
        <c:lblAlgn val="ctr"/>
        <c:lblOffset val="100"/>
        <c:noMultiLvlLbl val="0"/>
      </c:catAx>
      <c:valAx>
        <c:axId val="198596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Attrition count</a:t>
                </a:r>
              </a:p>
            </c:rich>
          </c:tx>
          <c:layout>
            <c:manualLayout>
              <c:xMode val="edge"/>
              <c:yMode val="edge"/>
              <c:x val="1.1805555555555555E-2"/>
              <c:y val="0.3249307378244386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594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00B0F0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[HR_Analysis (2)1.xlsx]Sheet2!PivotTable3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Employee Age vs Attrition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637CEF"/>
            </a:solidFill>
            <a:ln>
              <a:noFill/>
            </a:ln>
            <a:effectLst/>
          </c:spPr>
          <c:invertIfNegative val="0"/>
          <c:cat>
            <c:strRef>
              <c:f>Sheet2!$A$2:$A$41</c:f>
              <c:strCache>
                <c:ptCount val="39"/>
                <c:pt idx="0">
                  <c:v>18</c:v>
                </c:pt>
                <c:pt idx="1">
                  <c:v>19</c:v>
                </c:pt>
                <c:pt idx="2">
                  <c:v>20</c:v>
                </c:pt>
                <c:pt idx="3">
                  <c:v>21</c:v>
                </c:pt>
                <c:pt idx="4">
                  <c:v>22</c:v>
                </c:pt>
                <c:pt idx="5">
                  <c:v>23</c:v>
                </c:pt>
                <c:pt idx="6">
                  <c:v>24</c:v>
                </c:pt>
                <c:pt idx="7">
                  <c:v>25</c:v>
                </c:pt>
                <c:pt idx="8">
                  <c:v>26</c:v>
                </c:pt>
                <c:pt idx="9">
                  <c:v>27</c:v>
                </c:pt>
                <c:pt idx="10">
                  <c:v>28</c:v>
                </c:pt>
                <c:pt idx="11">
                  <c:v>29</c:v>
                </c:pt>
                <c:pt idx="12">
                  <c:v>30</c:v>
                </c:pt>
                <c:pt idx="13">
                  <c:v>31</c:v>
                </c:pt>
                <c:pt idx="14">
                  <c:v>32</c:v>
                </c:pt>
                <c:pt idx="15">
                  <c:v>33</c:v>
                </c:pt>
                <c:pt idx="16">
                  <c:v>34</c:v>
                </c:pt>
                <c:pt idx="17">
                  <c:v>35</c:v>
                </c:pt>
                <c:pt idx="18">
                  <c:v>36</c:v>
                </c:pt>
                <c:pt idx="19">
                  <c:v>37</c:v>
                </c:pt>
                <c:pt idx="20">
                  <c:v>38</c:v>
                </c:pt>
                <c:pt idx="21">
                  <c:v>39</c:v>
                </c:pt>
                <c:pt idx="22">
                  <c:v>40</c:v>
                </c:pt>
                <c:pt idx="23">
                  <c:v>41</c:v>
                </c:pt>
                <c:pt idx="24">
                  <c:v>42</c:v>
                </c:pt>
                <c:pt idx="25">
                  <c:v>43</c:v>
                </c:pt>
                <c:pt idx="26">
                  <c:v>44</c:v>
                </c:pt>
                <c:pt idx="27">
                  <c:v>45</c:v>
                </c:pt>
                <c:pt idx="28">
                  <c:v>46</c:v>
                </c:pt>
                <c:pt idx="29">
                  <c:v>47</c:v>
                </c:pt>
                <c:pt idx="30">
                  <c:v>48</c:v>
                </c:pt>
                <c:pt idx="31">
                  <c:v>49</c:v>
                </c:pt>
                <c:pt idx="32">
                  <c:v>50</c:v>
                </c:pt>
                <c:pt idx="33">
                  <c:v>51</c:v>
                </c:pt>
                <c:pt idx="34">
                  <c:v>52</c:v>
                </c:pt>
                <c:pt idx="35">
                  <c:v>53</c:v>
                </c:pt>
                <c:pt idx="36">
                  <c:v>55</c:v>
                </c:pt>
                <c:pt idx="37">
                  <c:v>56</c:v>
                </c:pt>
                <c:pt idx="38">
                  <c:v>58</c:v>
                </c:pt>
              </c:strCache>
            </c:strRef>
          </c:cat>
          <c:val>
            <c:numRef>
              <c:f>Sheet2!$B$2:$B$41</c:f>
              <c:numCache>
                <c:formatCode>General</c:formatCode>
                <c:ptCount val="39"/>
                <c:pt idx="0">
                  <c:v>4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5</c:v>
                </c:pt>
                <c:pt idx="5">
                  <c:v>4</c:v>
                </c:pt>
                <c:pt idx="6">
                  <c:v>7</c:v>
                </c:pt>
                <c:pt idx="7">
                  <c:v>6</c:v>
                </c:pt>
                <c:pt idx="8">
                  <c:v>12</c:v>
                </c:pt>
                <c:pt idx="9">
                  <c:v>3</c:v>
                </c:pt>
                <c:pt idx="10">
                  <c:v>14</c:v>
                </c:pt>
                <c:pt idx="11">
                  <c:v>18</c:v>
                </c:pt>
                <c:pt idx="12">
                  <c:v>9</c:v>
                </c:pt>
                <c:pt idx="13">
                  <c:v>18</c:v>
                </c:pt>
                <c:pt idx="14">
                  <c:v>11</c:v>
                </c:pt>
                <c:pt idx="15">
                  <c:v>12</c:v>
                </c:pt>
                <c:pt idx="16">
                  <c:v>9</c:v>
                </c:pt>
                <c:pt idx="17">
                  <c:v>10</c:v>
                </c:pt>
                <c:pt idx="18">
                  <c:v>6</c:v>
                </c:pt>
                <c:pt idx="19">
                  <c:v>6</c:v>
                </c:pt>
                <c:pt idx="20">
                  <c:v>2</c:v>
                </c:pt>
                <c:pt idx="21">
                  <c:v>6</c:v>
                </c:pt>
                <c:pt idx="22">
                  <c:v>5</c:v>
                </c:pt>
                <c:pt idx="23">
                  <c:v>6</c:v>
                </c:pt>
                <c:pt idx="24">
                  <c:v>2</c:v>
                </c:pt>
                <c:pt idx="25">
                  <c:v>2</c:v>
                </c:pt>
                <c:pt idx="26">
                  <c:v>6</c:v>
                </c:pt>
                <c:pt idx="27">
                  <c:v>2</c:v>
                </c:pt>
                <c:pt idx="28">
                  <c:v>4</c:v>
                </c:pt>
                <c:pt idx="29">
                  <c:v>3</c:v>
                </c:pt>
                <c:pt idx="30">
                  <c:v>2</c:v>
                </c:pt>
                <c:pt idx="31">
                  <c:v>2</c:v>
                </c:pt>
                <c:pt idx="32">
                  <c:v>5</c:v>
                </c:pt>
                <c:pt idx="33">
                  <c:v>2</c:v>
                </c:pt>
                <c:pt idx="34">
                  <c:v>3</c:v>
                </c:pt>
                <c:pt idx="35">
                  <c:v>2</c:v>
                </c:pt>
                <c:pt idx="36">
                  <c:v>3</c:v>
                </c:pt>
                <c:pt idx="37">
                  <c:v>3</c:v>
                </c:pt>
                <c:pt idx="38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F7FF-4BAC-89EF-9A78EC5CB3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98688768"/>
        <c:axId val="198690688"/>
      </c:barChart>
      <c:catAx>
        <c:axId val="1986887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690688"/>
        <c:crosses val="autoZero"/>
        <c:auto val="1"/>
        <c:lblAlgn val="ctr"/>
        <c:lblOffset val="100"/>
        <c:noMultiLvlLbl val="0"/>
      </c:catAx>
      <c:valAx>
        <c:axId val="198690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Attrition 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688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DAEEF3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extLst xmlns:c16r2="http://schemas.microsoft.com/office/drawing/2015/06/chart">
    <c:ext xmlns:c16="http://schemas.microsoft.com/office/drawing/2014/chart" uri="{E28EC0CA-F0BB-4C9C-879D-F8772B89E7AC}">
      <c16:pivotOptions16>
        <c16:showExpandCollapseFieldButtons val="1"/>
      </c16:pivotOptions16>
    </c:ext>
    <c:ext xmlns:c14="http://schemas.microsoft.com/office/drawing/2007/8/2/chart" uri="{781A3756-C4B2-4CAC-9D66-4F8BD8637D16}">
      <c14:pivotOptions>
        <c14:dropZonesVisible val="1"/>
      </c14:pivotOptions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Attrition by Marital Status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Sheet2!$E$31</c:f>
              <c:strCache>
                <c:ptCount val="1"/>
                <c:pt idx="0">
                  <c:v>Attrition</c:v>
                </c:pt>
              </c:strCache>
            </c:strRef>
          </c:tx>
          <c:dPt>
            <c:idx val="0"/>
            <c:bubble3D val="0"/>
            <c:spPr>
              <a:solidFill>
                <a:srgbClr val="637CEF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E3AE-42BA-87A4-95811D27C3F9}"/>
              </c:ext>
            </c:extLst>
          </c:dPt>
          <c:dPt>
            <c:idx val="1"/>
            <c:bubble3D val="0"/>
            <c:spPr>
              <a:solidFill>
                <a:srgbClr val="E3008C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E3AE-42BA-87A4-95811D27C3F9}"/>
              </c:ext>
            </c:extLst>
          </c:dPt>
          <c:dPt>
            <c:idx val="2"/>
            <c:bubble3D val="0"/>
            <c:spPr>
              <a:solidFill>
                <a:srgbClr val="2AA0A4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E3AE-42BA-87A4-95811D27C3F9}"/>
              </c:ext>
            </c:extLst>
          </c:dPt>
          <c:dPt>
            <c:idx val="3"/>
            <c:bubble3D val="0"/>
            <c:spPr>
              <a:solidFill>
                <a:srgbClr val="9373C0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E3AE-42BA-87A4-95811D27C3F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Sheet2!$D$32:$D$35</c:f>
              <c:strCache>
                <c:ptCount val="4"/>
                <c:pt idx="0">
                  <c:v>Divorced</c:v>
                </c:pt>
                <c:pt idx="1">
                  <c:v>Married</c:v>
                </c:pt>
                <c:pt idx="2">
                  <c:v>Single</c:v>
                </c:pt>
                <c:pt idx="3">
                  <c:v>Grand Total</c:v>
                </c:pt>
              </c:strCache>
            </c:strRef>
          </c:cat>
          <c:val>
            <c:numRef>
              <c:f>Sheet2!$E$32:$E$35</c:f>
              <c:numCache>
                <c:formatCode>General</c:formatCode>
                <c:ptCount val="4"/>
                <c:pt idx="0">
                  <c:v>33</c:v>
                </c:pt>
                <c:pt idx="1">
                  <c:v>84</c:v>
                </c:pt>
                <c:pt idx="2">
                  <c:v>120</c:v>
                </c:pt>
                <c:pt idx="3">
                  <c:v>237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E3AE-42BA-87A4-95811D27C3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2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[HR_Analysis (2)1.xlsx]2. Pivot Tables!PivotTable2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Department-wise Attrition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rgbClr val="009CF0"/>
          </a:solidFill>
          <a:ln>
            <a:noFill/>
          </a:ln>
          <a:effectLst/>
        </c:spPr>
        <c:marker>
          <c:symbol val="circle"/>
          <c:size val="5"/>
          <c:spPr>
            <a:solidFill>
              <a:srgbClr val="637CEF"/>
            </a:solidFill>
            <a:ln w="9525">
              <a:solidFill>
                <a:srgbClr val="637CEF"/>
              </a:solidFill>
            </a:ln>
            <a:effectLst/>
          </c:spPr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009CF0"/>
          </a:solidFill>
          <a:ln>
            <a:solidFill>
              <a:srgbClr val="FFFFFF"/>
            </a:solidFill>
            <a:prstDash val="solid"/>
          </a:ln>
          <a:effectLst/>
        </c:spPr>
      </c:pivotFmt>
      <c:pivotFmt>
        <c:idx val="2"/>
        <c:spPr>
          <a:solidFill>
            <a:srgbClr val="009CF0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009CF0"/>
          </a:solidFill>
          <a:ln>
            <a:solidFill>
              <a:srgbClr val="FFFFFF"/>
            </a:solidFill>
            <a:prstDash val="solid"/>
          </a:ln>
          <a:effectLst/>
        </c:spPr>
      </c:pivotFmt>
      <c:pivotFmt>
        <c:idx val="4"/>
        <c:spPr>
          <a:solidFill>
            <a:srgbClr val="009CF0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009CF0"/>
          </a:solidFill>
          <a:ln>
            <a:solidFill>
              <a:srgbClr val="FFFFFF"/>
            </a:solidFill>
            <a:prstDash val="solid"/>
          </a:ln>
          <a:effectLst/>
        </c:spPr>
      </c:pivotFmt>
      <c:pivotFmt>
        <c:idx val="6"/>
        <c:spPr>
          <a:solidFill>
            <a:srgbClr val="009CF0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009CF0"/>
          </a:solidFill>
          <a:ln>
            <a:solidFill>
              <a:srgbClr val="FFFFFF"/>
            </a:solidFill>
            <a:prstDash val="solid"/>
          </a:ln>
          <a:effectLst/>
        </c:spPr>
      </c:pivotFmt>
      <c:pivotFmt>
        <c:idx val="8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</c:pivotFmt>
      <c:pivotFmt>
        <c:idx val="10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</c:pivotFmt>
      <c:pivotFmt>
        <c:idx val="12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</c:pivotFmt>
      <c:pivotFmt>
        <c:idx val="14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</c:pivotFmt>
      <c:pivotFmt>
        <c:idx val="16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</c:pivotFmt>
      <c:pivotFmt>
        <c:idx val="18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</c:pivotFmt>
      <c:pivotFmt>
        <c:idx val="20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</c:pivotFmt>
      <c:pivotFmt>
        <c:idx val="22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rgbClr val="F9C2FA"/>
          </a:solidFill>
          <a:ln>
            <a:solidFill>
              <a:srgbClr val="B1A0C7"/>
            </a:solidFill>
            <a:prstDash val="solid"/>
          </a:ln>
          <a:effectLst/>
        </c:spPr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'2. Pivot Tables'!$C$28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9C2FA"/>
            </a:solidFill>
            <a:ln>
              <a:solidFill>
                <a:srgbClr val="B1A0C7"/>
              </a:solidFill>
              <a:prstDash val="solid"/>
            </a:ln>
            <a:effectLst/>
          </c:spPr>
          <c:invertIfNegative val="0"/>
          <c:dPt>
            <c:idx val="1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3268-4F3A-83F1-0CBBFD3429FA}"/>
              </c:ext>
            </c:extLst>
          </c:dPt>
          <c:cat>
            <c:strRef>
              <c:f>'2. Pivot Tables'!$B$29:$B$32</c:f>
              <c:strCache>
                <c:ptCount val="3"/>
                <c:pt idx="0">
                  <c:v>Human Resources</c:v>
                </c:pt>
                <c:pt idx="1">
                  <c:v>Research &amp; Development</c:v>
                </c:pt>
                <c:pt idx="2">
                  <c:v>Sales</c:v>
                </c:pt>
              </c:strCache>
            </c:strRef>
          </c:cat>
          <c:val>
            <c:numRef>
              <c:f>'2. Pivot Tables'!$C$29:$C$32</c:f>
              <c:numCache>
                <c:formatCode>General</c:formatCode>
                <c:ptCount val="3"/>
                <c:pt idx="0">
                  <c:v>63</c:v>
                </c:pt>
                <c:pt idx="1">
                  <c:v>961</c:v>
                </c:pt>
                <c:pt idx="2">
                  <c:v>446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3268-4F3A-83F1-0CBBFD3429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99860992"/>
        <c:axId val="199862912"/>
      </c:barChart>
      <c:catAx>
        <c:axId val="19986099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Departments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862912"/>
        <c:crosses val="autoZero"/>
        <c:auto val="1"/>
        <c:lblAlgn val="ctr"/>
        <c:lblOffset val="100"/>
        <c:noMultiLvlLbl val="0"/>
      </c:catAx>
      <c:valAx>
        <c:axId val="1998629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Count of Attrition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86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99FFCC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extLst xmlns:c16r2="http://schemas.microsoft.com/office/drawing/2015/06/chart">
    <c:ext xmlns:c16="http://schemas.microsoft.com/office/drawing/2014/chart" uri="{E28EC0CA-F0BB-4C9C-879D-F8772B89E7AC}">
      <c16:pivotOptions16>
        <c16:showExpandCollapseFieldButtons val="1"/>
      </c16:pivotOptions16>
    </c:ext>
    <c:ext xmlns:c14="http://schemas.microsoft.com/office/drawing/2007/8/2/chart" uri="{781A3756-C4B2-4CAC-9D66-4F8BD8637D16}">
      <c14:pivotOptions>
        <c14:dropZoneSeries val="1"/>
        <c14:dropZonesVisible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2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3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4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5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6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7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8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9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10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06789-E763-4C35-85B5-11A31DEF7F9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6EA91A-6A75-49D5-A30F-D8224A6E2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98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sz="1100" dirty="0"/>
              <a:t>*(</a:t>
            </a:r>
            <a:r>
              <a:rPr lang="en-US" sz="1100" b="0" dirty="0"/>
              <a:t>Sum of Monthly Income/total employees = ₹9559309​/1470)</a:t>
            </a:r>
          </a:p>
          <a:p>
            <a:pPr marL="0" indent="0"/>
            <a:r>
              <a:rPr lang="en-US" sz="1100" b="0" dirty="0"/>
              <a:t>**Interpretation of Job Satisfaction Levels:</a:t>
            </a:r>
            <a:br>
              <a:rPr lang="en-US" sz="1100" b="0" dirty="0"/>
            </a:br>
            <a:r>
              <a:rPr lang="en-US" sz="1100" b="0" dirty="0"/>
              <a:t>Employees scoring near 1 exhibit </a:t>
            </a:r>
            <a:r>
              <a:rPr lang="en-US" sz="1100" b="0" i="1" dirty="0"/>
              <a:t>very low satisfaction</a:t>
            </a:r>
            <a:r>
              <a:rPr lang="en-US" sz="1100" b="0" dirty="0"/>
              <a:t>, while those near 2 show </a:t>
            </a:r>
            <a:r>
              <a:rPr lang="en-US" sz="1100" b="0" i="1" dirty="0"/>
              <a:t>moderate dissatisfaction</a:t>
            </a:r>
            <a:r>
              <a:rPr lang="en-US" sz="1100" b="0" dirty="0"/>
              <a:t>. Scores around 3 indicate </a:t>
            </a:r>
            <a:r>
              <a:rPr lang="en-US" sz="1100" b="0" i="1" dirty="0"/>
              <a:t>general satisfaction</a:t>
            </a:r>
            <a:r>
              <a:rPr lang="en-US" sz="1100" b="0" dirty="0"/>
              <a:t>, and those near 4 reflect </a:t>
            </a:r>
            <a:r>
              <a:rPr lang="en-US" sz="1100" b="0" i="1" dirty="0"/>
              <a:t>high satisfaction and positive engagement</a:t>
            </a:r>
            <a:r>
              <a:rPr lang="en-US" sz="1100" b="0" dirty="0"/>
              <a:t>.</a:t>
            </a:r>
          </a:p>
          <a:p>
            <a:pPr marL="0" indent="0"/>
            <a:endParaRPr lang="en-US" sz="1100" b="0" dirty="0"/>
          </a:p>
          <a:p>
            <a:pPr marL="0" indent="0"/>
            <a:endParaRPr lang="en-US" sz="1100" b="0" dirty="0"/>
          </a:p>
          <a:p>
            <a:pPr marL="0" indent="0"/>
            <a:endParaRPr lang="en-US" sz="11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6EA91A-6A75-49D5-A30F-D8224A6E22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494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*Average Years at Company =(∑(Years at company × No. of Employees)) ÷</a:t>
            </a:r>
            <a:r>
              <a:rPr lang="el-GR" dirty="0"/>
              <a:t>(Σ </a:t>
            </a:r>
            <a:r>
              <a:rPr lang="en-US" dirty="0"/>
              <a:t>Employees)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6EA91A-6A75-49D5-A30F-D8224A6E22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88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6EA91A-6A75-49D5-A30F-D8224A6E22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726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A648-111A-4400-909F-8753B325E0A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65D1-C6C3-434B-B558-409765A142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A648-111A-4400-909F-8753B325E0A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65D1-C6C3-434B-B558-409765A142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A648-111A-4400-909F-8753B325E0A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65D1-C6C3-434B-B558-409765A142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A648-111A-4400-909F-8753B325E0A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65D1-C6C3-434B-B558-409765A142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A648-111A-4400-909F-8753B325E0A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65D1-C6C3-434B-B558-409765A142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A648-111A-4400-909F-8753B325E0A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65D1-C6C3-434B-B558-409765A142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A648-111A-4400-909F-8753B325E0A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65D1-C6C3-434B-B558-409765A142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A648-111A-4400-909F-8753B325E0A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8565D1-C6C3-434B-B558-409765A142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A648-111A-4400-909F-8753B325E0A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65D1-C6C3-434B-B558-409765A142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A648-111A-4400-909F-8753B325E0A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65D1-C6C3-434B-B558-409765A142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A648-111A-4400-909F-8753B325E0A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65D1-C6C3-434B-B558-409765A142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7846A648-111A-4400-909F-8753B325E0A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E18565D1-C6C3-434B-B558-409765A142A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Excel_Worksheet1.xlsx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1140334"/>
            <a:ext cx="8206680" cy="2795153"/>
          </a:xfrm>
        </p:spPr>
        <p:txBody>
          <a:bodyPr>
            <a:normAutofit fontScale="90000"/>
          </a:bodyPr>
          <a:lstStyle/>
          <a:p>
            <a:pPr algn="l"/>
            <a:r>
              <a:rPr lang="en-US" sz="2800" b="1" dirty="0">
                <a:latin typeface="Batang"/>
                <a:ea typeface="Batang"/>
              </a:rPr>
              <a:t>HR Analytics Dashboard – Employee Insights 2025</a:t>
            </a:r>
            <a:r>
              <a:rPr lang="en-US" sz="2800" dirty="0">
                <a:latin typeface="Batang"/>
              </a:rPr>
              <a:t/>
            </a:r>
            <a:br>
              <a:rPr lang="en-US" sz="2800" dirty="0">
                <a:latin typeface="Batang"/>
              </a:rPr>
            </a:br>
            <a:r>
              <a:rPr lang="en-US" sz="2800" i="1" dirty="0">
                <a:latin typeface="Batang"/>
                <a:ea typeface="Batang"/>
              </a:rPr>
              <a:t>Based on company HR data (2024–2025)</a:t>
            </a:r>
            <a:r>
              <a:rPr lang="en-US" sz="2800" dirty="0">
                <a:latin typeface="Batang"/>
              </a:rPr>
              <a:t/>
            </a:r>
            <a:br>
              <a:rPr lang="en-US" sz="2800" dirty="0">
                <a:latin typeface="Batang"/>
              </a:rPr>
            </a:br>
            <a:r>
              <a:rPr lang="en-US" sz="2000" b="1" dirty="0">
                <a:latin typeface="Batang"/>
                <a:ea typeface="Batang"/>
              </a:rPr>
              <a:t>Presented by</a:t>
            </a:r>
            <a:r>
              <a:rPr lang="en-US" sz="2000" dirty="0">
                <a:latin typeface="Batang"/>
              </a:rPr>
              <a:t/>
            </a:r>
            <a:br>
              <a:rPr lang="en-US" sz="2000" dirty="0">
                <a:latin typeface="Batang"/>
              </a:rPr>
            </a:br>
            <a:r>
              <a:rPr lang="en-US" sz="2000" b="1" dirty="0">
                <a:latin typeface="Batang"/>
                <a:ea typeface="Batang"/>
              </a:rPr>
              <a:t>Nora</a:t>
            </a:r>
            <a:r>
              <a:rPr lang="en-US" sz="2000" dirty="0">
                <a:latin typeface="Batang"/>
              </a:rPr>
              <a:t/>
            </a:r>
            <a:br>
              <a:rPr lang="en-US" sz="2000" dirty="0">
                <a:latin typeface="Batang"/>
              </a:rPr>
            </a:br>
            <a:r>
              <a:rPr lang="en-US" sz="2000" i="1" dirty="0">
                <a:latin typeface="Batang"/>
                <a:ea typeface="Batang"/>
              </a:rPr>
              <a:t>Data Entry Executive</a:t>
            </a:r>
            <a:r>
              <a:rPr lang="en-US" sz="2000" dirty="0">
                <a:latin typeface="Batang"/>
              </a:rPr>
              <a:t/>
            </a:r>
            <a:br>
              <a:rPr lang="en-US" sz="2000" dirty="0">
                <a:latin typeface="Batang"/>
              </a:rPr>
            </a:br>
            <a:r>
              <a:rPr lang="en-US" sz="2000" dirty="0">
                <a:latin typeface="Batang"/>
                <a:ea typeface="Batang"/>
              </a:rPr>
              <a:t>📧 </a:t>
            </a:r>
            <a:r>
              <a:rPr lang="en-US" sz="2000" b="1" dirty="0">
                <a:latin typeface="Batang"/>
                <a:ea typeface="Batang"/>
              </a:rPr>
              <a:t>shreyaalphaguha@gmail.com</a:t>
            </a:r>
            <a:r>
              <a:rPr lang="en-US" sz="2000" dirty="0">
                <a:latin typeface="Batang"/>
              </a:rPr>
              <a:t/>
            </a:r>
            <a:br>
              <a:rPr lang="en-US" sz="2000" dirty="0">
                <a:latin typeface="Batang"/>
              </a:rPr>
            </a:br>
            <a:r>
              <a:rPr lang="en-US" sz="2000" b="1" dirty="0">
                <a:latin typeface="Batang"/>
                <a:ea typeface="Batang"/>
              </a:rPr>
              <a:t>Date:</a:t>
            </a:r>
            <a:r>
              <a:rPr lang="en-US" sz="2000" dirty="0">
                <a:latin typeface="Batang"/>
                <a:ea typeface="Batang"/>
              </a:rPr>
              <a:t> November 2025</a:t>
            </a:r>
          </a:p>
        </p:txBody>
      </p:sp>
    </p:spTree>
    <p:extLst>
      <p:ext uri="{BB962C8B-B14F-4D97-AF65-F5344CB8AC3E}">
        <p14:creationId xmlns:p14="http://schemas.microsoft.com/office/powerpoint/2010/main" val="1367938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260648"/>
            <a:ext cx="8496944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latin typeface="Batang"/>
                <a:ea typeface="Batang"/>
              </a:rPr>
              <a:t>Objectives of HR Data Analysis</a:t>
            </a:r>
          </a:p>
          <a:p>
            <a:pPr algn="ctr"/>
            <a:endParaRPr lang="en-US" dirty="0">
              <a:latin typeface="Batang"/>
              <a:ea typeface="Batang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Batang"/>
                <a:ea typeface="Batang"/>
              </a:rPr>
              <a:t>To analyze employee attrition patterns and key influencing factors.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Batang"/>
                <a:ea typeface="Batang"/>
              </a:rPr>
              <a:t>To identify trends in job satisfaction and compensation.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Batang"/>
                <a:ea typeface="Batang"/>
              </a:rPr>
              <a:t>To provide insights for improving retention and employee engagement.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Batang"/>
                <a:ea typeface="Batang"/>
              </a:rPr>
              <a:t>To visualize HR data for quick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92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5817" y="329888"/>
            <a:ext cx="7488832" cy="347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>
                <a:latin typeface="Batang"/>
                <a:ea typeface="Batang"/>
              </a:rPr>
              <a:t>About the Dataset</a:t>
            </a:r>
          </a:p>
          <a:p>
            <a:pPr algn="ctr"/>
            <a:endParaRPr lang="en-US" sz="2800" b="1" dirty="0">
              <a:latin typeface="Batang"/>
              <a:ea typeface="Batang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Batang"/>
                <a:ea typeface="Batang"/>
              </a:rPr>
              <a:t>Data Source: Company HR records (2024–2025)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Batang"/>
                <a:ea typeface="Batang"/>
              </a:rPr>
              <a:t>Total Employees: 1,470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Batang"/>
                <a:ea typeface="Batang"/>
              </a:rPr>
              <a:t>Key Variables: Age, Gender, Department, Job Role, Monthly Income, Attrition, Job Satisfaction, Work-Life Balance, etc.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Batang"/>
                <a:ea typeface="Batang"/>
              </a:rPr>
              <a:t>Tools Used: Microsoft Excel (Pivot Tables, Charts, and Dashboard).</a:t>
            </a:r>
          </a:p>
          <a:p>
            <a:pPr algn="ctr"/>
            <a:endParaRPr lang="en-US" sz="2800" b="1" dirty="0"/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50344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tang"/>
                <a:ea typeface="Batang"/>
              </a:rP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100628"/>
            <a:ext cx="7520940" cy="499266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1800" b="0" dirty="0">
                <a:latin typeface="Batang"/>
                <a:ea typeface="Batang"/>
              </a:rPr>
              <a:t>Overall Attrition Rate = 16.12%</a:t>
            </a:r>
          </a:p>
          <a:p>
            <a:pPr>
              <a:buFont typeface="+mj-lt"/>
              <a:buAutoNum type="arabicPeriod"/>
            </a:pPr>
            <a:r>
              <a:rPr lang="en-US" sz="1800" b="0" dirty="0">
                <a:latin typeface="Batang"/>
                <a:ea typeface="Batang"/>
              </a:rPr>
              <a:t>Department-wise Attrition :</a:t>
            </a:r>
          </a:p>
          <a:p>
            <a:pPr>
              <a:buFont typeface="+mj-lt"/>
              <a:buAutoNum type="arabicPeriod"/>
            </a:pPr>
            <a:endParaRPr lang="en-US" sz="1800" b="0" dirty="0"/>
          </a:p>
          <a:p>
            <a:pPr>
              <a:buFont typeface="+mj-lt"/>
              <a:buAutoNum type="arabicPeriod"/>
            </a:pPr>
            <a:endParaRPr lang="en-US" b="0" dirty="0"/>
          </a:p>
          <a:p>
            <a:pPr>
              <a:buFont typeface="+mj-lt"/>
              <a:buAutoNum type="arabicPeriod"/>
            </a:pPr>
            <a:endParaRPr lang="en-US" b="0" dirty="0"/>
          </a:p>
          <a:p>
            <a:pPr>
              <a:buFont typeface="+mj-lt"/>
              <a:buAutoNum type="arabicPeriod"/>
            </a:pPr>
            <a:endParaRPr lang="en-US" b="0" dirty="0"/>
          </a:p>
          <a:p>
            <a:pPr>
              <a:buFont typeface="+mj-lt"/>
              <a:buAutoNum type="arabicPeriod"/>
            </a:pPr>
            <a:endParaRPr lang="en-US" b="0" dirty="0"/>
          </a:p>
          <a:p>
            <a:pPr>
              <a:buFont typeface="+mj-lt"/>
              <a:buAutoNum type="arabicPeriod"/>
            </a:pPr>
            <a:endParaRPr lang="en-US" sz="1800" b="0" dirty="0"/>
          </a:p>
          <a:p>
            <a:pPr>
              <a:buFont typeface="+mj-lt"/>
              <a:buAutoNum type="arabicPeriod"/>
            </a:pPr>
            <a:r>
              <a:rPr lang="en-US" sz="1800" b="0" dirty="0">
                <a:latin typeface="Batang"/>
                <a:ea typeface="Batang"/>
              </a:rPr>
              <a:t>Average Monthly Income = ₹6502.31*</a:t>
            </a:r>
            <a:endParaRPr lang="en-US" sz="1400" b="0">
              <a:latin typeface="Batang"/>
              <a:ea typeface="Batang"/>
            </a:endParaRPr>
          </a:p>
          <a:p>
            <a:pPr>
              <a:buFont typeface="+mj-lt"/>
              <a:buAutoNum type="arabicPeriod"/>
            </a:pPr>
            <a:r>
              <a:rPr lang="en-US" sz="1800" b="0" dirty="0">
                <a:latin typeface="Batang"/>
                <a:ea typeface="Batang"/>
              </a:rPr>
              <a:t>Job Satisfaction Index= 2.73 (moderately satisfied**)</a:t>
            </a:r>
          </a:p>
          <a:p>
            <a:pPr marL="0" indent="0"/>
            <a:endParaRPr lang="en-US" sz="1800" b="0" dirty="0"/>
          </a:p>
          <a:p>
            <a:pPr>
              <a:buFont typeface="+mj-lt"/>
              <a:buAutoNum type="arabicPeriod"/>
            </a:pPr>
            <a:endParaRPr lang="en-US" sz="1400" b="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482829"/>
              </p:ext>
            </p:extLst>
          </p:nvPr>
        </p:nvGraphicFramePr>
        <p:xfrm>
          <a:off x="1475656" y="2060848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tang"/>
                        </a:rPr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tang"/>
                        </a:rPr>
                        <a:t>Count of Attrition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Batang"/>
                        </a:rPr>
                        <a:t>Human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tang"/>
                        </a:rPr>
                        <a:t>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Batang"/>
                        </a:rPr>
                        <a:t>Research &amp;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tang"/>
                        </a:rPr>
                        <a:t>961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Batang"/>
                        </a:rP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tang"/>
                        </a:rPr>
                        <a:t>446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Batang"/>
                        </a:rPr>
                        <a:t>Grand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tang"/>
                        </a:rPr>
                        <a:t>1470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9390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476672"/>
            <a:ext cx="7520940" cy="604867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Franklin Gothic Book" pitchFamily="34" charset="0"/>
              <a:buChar char="5"/>
            </a:pPr>
            <a:r>
              <a:rPr lang="en-US" sz="1800" b="0" dirty="0">
                <a:latin typeface="Batang"/>
                <a:ea typeface="Batang"/>
              </a:rPr>
              <a:t>Work-Life Balance Score: 2.76</a:t>
            </a:r>
          </a:p>
          <a:p>
            <a:pPr>
              <a:buFont typeface="+mj-lt"/>
              <a:buAutoNum type="arabicPeriod"/>
            </a:pPr>
            <a:endParaRPr lang="en-US" sz="1800" b="0" dirty="0">
              <a:latin typeface="Batang"/>
              <a:ea typeface="Batang"/>
            </a:endParaRPr>
          </a:p>
          <a:p>
            <a:pPr>
              <a:buFont typeface="+mj-lt"/>
              <a:buAutoNum type="arabicPeriod"/>
            </a:pPr>
            <a:endParaRPr lang="en-US" sz="1800" b="0" dirty="0">
              <a:latin typeface="Batang"/>
              <a:ea typeface="Batang"/>
            </a:endParaRPr>
          </a:p>
          <a:p>
            <a:pPr>
              <a:buFont typeface="+mj-lt"/>
              <a:buAutoNum type="arabicPeriod"/>
            </a:pPr>
            <a:endParaRPr lang="en-US" sz="1800" b="0" dirty="0">
              <a:latin typeface="Batang"/>
              <a:ea typeface="Batang"/>
            </a:endParaRPr>
          </a:p>
          <a:p>
            <a:pPr>
              <a:buFont typeface="+mj-lt"/>
              <a:buAutoNum type="arabicPeriod"/>
            </a:pPr>
            <a:endParaRPr lang="en-US" sz="1800" b="0" dirty="0">
              <a:latin typeface="Batang"/>
              <a:ea typeface="Batang"/>
            </a:endParaRPr>
          </a:p>
          <a:p>
            <a:pPr>
              <a:buFont typeface="+mj-lt"/>
              <a:buAutoNum type="arabicPeriod"/>
            </a:pPr>
            <a:endParaRPr lang="en-US" sz="1800" b="0" dirty="0">
              <a:latin typeface="Batang"/>
              <a:ea typeface="Batang"/>
            </a:endParaRPr>
          </a:p>
          <a:p>
            <a:pPr>
              <a:buFont typeface="+mj-lt"/>
              <a:buAutoNum type="arabicPeriod"/>
            </a:pPr>
            <a:endParaRPr lang="en-US" sz="1800" b="0" dirty="0">
              <a:latin typeface="Batang"/>
              <a:ea typeface="Batang"/>
            </a:endParaRPr>
          </a:p>
          <a:p>
            <a:pPr>
              <a:buFont typeface="+mj-lt"/>
              <a:buAutoNum type="arabicPeriod"/>
            </a:pPr>
            <a:endParaRPr lang="en-US" sz="1800" b="0" dirty="0">
              <a:latin typeface="Batang"/>
              <a:ea typeface="Batang"/>
            </a:endParaRPr>
          </a:p>
          <a:p>
            <a:pPr>
              <a:buFont typeface="+mj-lt"/>
              <a:buAutoNum type="arabicPeriod"/>
            </a:pPr>
            <a:endParaRPr lang="en-US" sz="1800" b="0" dirty="0">
              <a:latin typeface="Batang"/>
              <a:ea typeface="Batang"/>
            </a:endParaRPr>
          </a:p>
          <a:p>
            <a:pPr marL="0" indent="0"/>
            <a:r>
              <a:rPr lang="en-US" sz="1800" b="0" dirty="0">
                <a:latin typeface="Batang"/>
                <a:ea typeface="Batang"/>
              </a:rPr>
              <a:t>Work-Life Balance Score=Total Employees/Total Weighted Score​=     4059/1470=2.76 (on a 4-point scale)</a:t>
            </a:r>
          </a:p>
          <a:p>
            <a:pPr marL="0" indent="0"/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Batang"/>
                <a:ea typeface="Batang"/>
              </a:rPr>
              <a:t>Work-life balance and satisfaction levels being below 3 indicate potential areas for HR improvement.</a:t>
            </a:r>
            <a:endParaRPr lang="en-US" sz="1800" b="0" dirty="0">
              <a:solidFill>
                <a:schemeClr val="accent1">
                  <a:lumMod val="50000"/>
                </a:schemeClr>
              </a:solidFill>
              <a:latin typeface="Batang"/>
              <a:ea typeface="Batang"/>
            </a:endParaRPr>
          </a:p>
          <a:p>
            <a:pPr>
              <a:buFont typeface="+mj-lt"/>
              <a:buAutoNum type="arabicPeriod" startAt="6"/>
            </a:pPr>
            <a:r>
              <a:rPr lang="en-US" sz="1800" b="0" dirty="0">
                <a:latin typeface="Batang"/>
                <a:ea typeface="Batang"/>
              </a:rPr>
              <a:t>Average Years at Company= 7 (approx.)*</a:t>
            </a:r>
          </a:p>
          <a:p>
            <a:pPr marL="0" indent="0"/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Batang"/>
                <a:ea typeface="Batang"/>
              </a:rPr>
              <a:t>Employees tend to stay around 7 years on average, suggesting reasonable retention despite a moderate attrition rate.</a:t>
            </a:r>
            <a:endParaRPr lang="en-US" sz="1800" b="0" dirty="0">
              <a:solidFill>
                <a:schemeClr val="accent1">
                  <a:lumMod val="50000"/>
                </a:schemeClr>
              </a:solidFill>
              <a:latin typeface="Batang"/>
              <a:ea typeface="Batang"/>
            </a:endParaRPr>
          </a:p>
          <a:p>
            <a:pPr>
              <a:buFont typeface="+mj-lt"/>
              <a:buAutoNum type="arabicPeriod" startAt="6"/>
            </a:pPr>
            <a:endParaRPr lang="en-US" sz="1800" b="0" dirty="0">
              <a:latin typeface="Batang"/>
              <a:ea typeface="Batang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699822"/>
              </p:ext>
            </p:extLst>
          </p:nvPr>
        </p:nvGraphicFramePr>
        <p:xfrm>
          <a:off x="1394603" y="1049547"/>
          <a:ext cx="6107906" cy="27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390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tang"/>
                        </a:rPr>
                        <a:t>Work-Life Balance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Batang"/>
                        </a:rPr>
                        <a:t>No.</a:t>
                      </a:r>
                      <a:r>
                        <a:rPr lang="en-US" baseline="0" dirty="0">
                          <a:latin typeface="Batang"/>
                        </a:rPr>
                        <a:t> of  Employees</a:t>
                      </a:r>
                      <a:endParaRPr lang="en-US">
                        <a:latin typeface="Batang"/>
                      </a:endParaRPr>
                    </a:p>
                    <a:p>
                      <a:endParaRPr lang="en-US" dirty="0">
                        <a:latin typeface="Batang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tang"/>
                        </a:rPr>
                        <a:t>Weighted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Batang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tang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tang"/>
                        </a:rPr>
                        <a:t>1*80=</a:t>
                      </a:r>
                      <a:r>
                        <a:rPr lang="en-US" baseline="0" dirty="0">
                          <a:latin typeface="Batang"/>
                        </a:rPr>
                        <a:t> 80</a:t>
                      </a:r>
                      <a:endParaRPr lang="en-US" dirty="0">
                        <a:latin typeface="Batang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Batang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tang"/>
                        </a:rPr>
                        <a:t>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tang"/>
                        </a:rPr>
                        <a:t>2*344= 688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Batang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tang"/>
                        </a:rPr>
                        <a:t>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tang"/>
                        </a:rPr>
                        <a:t>3*893= 2679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Batang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tang"/>
                        </a:rPr>
                        <a:t>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tang"/>
                        </a:rPr>
                        <a:t>4*153= 612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Batang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tang"/>
                        </a:rPr>
                        <a:t>1470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tang"/>
                        </a:rPr>
                        <a:t>4059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267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tang"/>
                <a:ea typeface="Batang"/>
              </a:rPr>
              <a:t>Key Metrics Summary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1416135"/>
              </p:ext>
            </p:extLst>
          </p:nvPr>
        </p:nvGraphicFramePr>
        <p:xfrm>
          <a:off x="822325" y="1381284"/>
          <a:ext cx="7521576" cy="301752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5071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5071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50719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Batang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Batang"/>
                        </a:rPr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Batang"/>
                        </a:rPr>
                        <a:t>Interpretation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atang"/>
                        </a:rPr>
                        <a:t>Overall Attrition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atang"/>
                        </a:rPr>
                        <a:t>16.12%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atang"/>
                        </a:rPr>
                        <a:t>Moderate attrition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atang"/>
                        </a:rPr>
                        <a:t>Average Monthly 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atang"/>
                        </a:rPr>
                        <a:t>₹6,502.31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atang"/>
                        </a:rPr>
                        <a:t>Mid-range pay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atang"/>
                        </a:rPr>
                        <a:t>Job Satisfaction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atang"/>
                        </a:rPr>
                        <a:t>2.73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atang"/>
                        </a:rPr>
                        <a:t>Moderately satisfied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atang"/>
                        </a:rPr>
                        <a:t>Work-Life Balance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atang"/>
                        </a:rPr>
                        <a:t>2.76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atang"/>
                        </a:rPr>
                        <a:t>Balanced, slightly above average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atang"/>
                        </a:rPr>
                        <a:t>Average Years at Company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atang"/>
                        </a:rPr>
                        <a:t>7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atang"/>
                        </a:rPr>
                        <a:t>Moderate tenure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8389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743C74-BD34-DF24-AD69-F715589AA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583" y="2407345"/>
            <a:ext cx="7520940" cy="1267507"/>
          </a:xfrm>
        </p:spPr>
        <p:txBody>
          <a:bodyPr/>
          <a:lstStyle/>
          <a:p>
            <a:pPr algn="ctr"/>
            <a:r>
              <a:rPr lang="en-GB" dirty="0">
                <a:latin typeface="Batang"/>
                <a:ea typeface="+mj-lt"/>
                <a:cs typeface="+mj-lt"/>
              </a:rPr>
              <a:t>Visual Insights – Attrition</a:t>
            </a:r>
            <a:br>
              <a:rPr lang="en-GB" dirty="0">
                <a:latin typeface="Batang"/>
                <a:ea typeface="+mj-lt"/>
                <a:cs typeface="+mj-lt"/>
              </a:rPr>
            </a:br>
            <a:r>
              <a:rPr lang="en-GB" sz="2000" dirty="0">
                <a:latin typeface="Batang"/>
                <a:ea typeface="+mj-lt"/>
                <a:cs typeface="+mj-lt"/>
              </a:rPr>
              <a:t>Employee Attrition Analysis</a:t>
            </a:r>
            <a:r>
              <a:rPr lang="en-GB" dirty="0">
                <a:latin typeface="Batang"/>
                <a:ea typeface="+mj-lt"/>
                <a:cs typeface="+mj-lt"/>
              </a:rPr>
              <a:t/>
            </a:r>
            <a:br>
              <a:rPr lang="en-GB" dirty="0">
                <a:latin typeface="Batang"/>
                <a:ea typeface="+mj-lt"/>
                <a:cs typeface="+mj-lt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679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>
            <a:extLst>
              <a:ext uri="{FF2B5EF4-FFF2-40B4-BE49-F238E27FC236}">
                <a16:creationId xmlns="" xmlns:a16="http://schemas.microsoft.com/office/drawing/2014/main" id="{C25665D8-53F5-4391-995C-0A2CEA7FA123}"/>
              </a:ext>
              <a:ext uri="{147F2762-F138-4A5C-976F-8EAC2B608ADB}">
                <a16:predDERef xmlns="" xmlns:a16="http://schemas.microsoft.com/office/drawing/2014/main" pred="{00000000-0008-0000-0200-00002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7659003"/>
              </p:ext>
            </p:extLst>
          </p:nvPr>
        </p:nvGraphicFramePr>
        <p:xfrm>
          <a:off x="449293" y="785364"/>
          <a:ext cx="8240741" cy="4908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52342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="" xmlns:a16="http://schemas.microsoft.com/office/drawing/2014/main" id="{CA3057D2-B709-FC8C-829E-C7E63F7203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0031796"/>
              </p:ext>
            </p:extLst>
          </p:nvPr>
        </p:nvGraphicFramePr>
        <p:xfrm>
          <a:off x="429164" y="469781"/>
          <a:ext cx="8295375" cy="56118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27852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="" xmlns:a16="http://schemas.microsoft.com/office/drawing/2014/main" id="{00DDE913-C58F-F056-2A5E-DC1CF68ED1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9439862"/>
              </p:ext>
            </p:extLst>
          </p:nvPr>
        </p:nvGraphicFramePr>
        <p:xfrm>
          <a:off x="493682" y="164441"/>
          <a:ext cx="7950678" cy="5575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12069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796121-4088-F890-1649-155F77F6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Batang"/>
                <a:ea typeface="+mj-lt"/>
                <a:cs typeface="+mj-lt"/>
              </a:rPr>
              <a:t>Attrition Analysis Summary</a:t>
            </a:r>
            <a:endParaRPr lang="en-US" dirty="0">
              <a:latin typeface="Bata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C736596-8525-22C0-0A27-8A831ED57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100628"/>
            <a:ext cx="7520940" cy="48163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1. Department-wise: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Research &amp; Development shows the highest attrition (</a:t>
            </a:r>
            <a:r>
              <a:rPr lang="en-US" dirty="0">
                <a:latin typeface="Batang"/>
                <a:ea typeface="+mn-lt"/>
                <a:cs typeface="+mn-lt"/>
              </a:rPr>
              <a:t>961</a:t>
            </a:r>
            <a:r>
              <a:rPr lang="en-US" b="0" dirty="0">
                <a:latin typeface="Batang"/>
                <a:ea typeface="+mn-lt"/>
                <a:cs typeface="+mn-lt"/>
              </a:rPr>
              <a:t>), followed by Sales (</a:t>
            </a:r>
            <a:r>
              <a:rPr lang="en-US" dirty="0">
                <a:latin typeface="Batang"/>
                <a:ea typeface="+mn-lt"/>
                <a:cs typeface="+mn-lt"/>
              </a:rPr>
              <a:t>446</a:t>
            </a:r>
            <a:r>
              <a:rPr lang="en-US" b="0" dirty="0">
                <a:latin typeface="Batang"/>
                <a:ea typeface="+mn-lt"/>
                <a:cs typeface="+mn-lt"/>
              </a:rPr>
              <a:t>) and Human Resources (</a:t>
            </a:r>
            <a:r>
              <a:rPr lang="en-US" dirty="0">
                <a:latin typeface="Batang"/>
                <a:ea typeface="+mn-lt"/>
                <a:cs typeface="+mn-lt"/>
              </a:rPr>
              <a:t>63</a:t>
            </a:r>
            <a:r>
              <a:rPr lang="en-US" b="0" dirty="0">
                <a:latin typeface="Batang"/>
                <a:ea typeface="+mn-lt"/>
                <a:cs typeface="+mn-lt"/>
              </a:rPr>
              <a:t>).</a:t>
            </a:r>
            <a:endParaRPr lang="en-US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Indicates higher turnover in technical and client-facing roles.</a:t>
            </a:r>
            <a:endParaRPr lang="en-US" dirty="0">
              <a:latin typeface="Batang"/>
              <a:ea typeface="+mn-lt"/>
              <a:cs typeface="+mn-lt"/>
            </a:endParaRPr>
          </a:p>
          <a:p>
            <a:pPr marL="0" indent="0"/>
            <a:r>
              <a:rPr lang="en-US" dirty="0">
                <a:latin typeface="Batang"/>
                <a:ea typeface="+mn-lt"/>
                <a:cs typeface="+mn-lt"/>
              </a:rPr>
              <a:t>2. Job Role-wise:</a:t>
            </a:r>
            <a:endParaRPr lang="en-US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Major contributors: Sales Executive (</a:t>
            </a:r>
            <a:r>
              <a:rPr lang="en-US" dirty="0">
                <a:latin typeface="Batang"/>
                <a:ea typeface="+mn-lt"/>
                <a:cs typeface="+mn-lt"/>
              </a:rPr>
              <a:t>326</a:t>
            </a:r>
            <a:r>
              <a:rPr lang="en-US" b="0" dirty="0">
                <a:latin typeface="Batang"/>
                <a:ea typeface="+mn-lt"/>
                <a:cs typeface="+mn-lt"/>
              </a:rPr>
              <a:t>), Research Scientist (</a:t>
            </a:r>
            <a:r>
              <a:rPr lang="en-US" dirty="0">
                <a:latin typeface="Batang"/>
                <a:ea typeface="+mn-lt"/>
                <a:cs typeface="+mn-lt"/>
              </a:rPr>
              <a:t>292</a:t>
            </a:r>
            <a:r>
              <a:rPr lang="en-US" b="0" dirty="0">
                <a:latin typeface="Batang"/>
                <a:ea typeface="+mn-lt"/>
                <a:cs typeface="+mn-lt"/>
              </a:rPr>
              <a:t>), and Laboratory Technician (</a:t>
            </a:r>
            <a:r>
              <a:rPr lang="en-US" dirty="0">
                <a:latin typeface="Batang"/>
                <a:ea typeface="+mn-lt"/>
                <a:cs typeface="+mn-lt"/>
              </a:rPr>
              <a:t>259</a:t>
            </a:r>
            <a:r>
              <a:rPr lang="en-US" b="0" dirty="0">
                <a:latin typeface="Batang"/>
                <a:ea typeface="+mn-lt"/>
                <a:cs typeface="+mn-lt"/>
              </a:rPr>
              <a:t>).</a:t>
            </a:r>
            <a:endParaRPr lang="en-US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Leadership roles like Manager (</a:t>
            </a:r>
            <a:r>
              <a:rPr lang="en-US" dirty="0">
                <a:latin typeface="Batang"/>
                <a:ea typeface="+mn-lt"/>
                <a:cs typeface="+mn-lt"/>
              </a:rPr>
              <a:t>102</a:t>
            </a:r>
            <a:r>
              <a:rPr lang="en-US" b="0" dirty="0">
                <a:latin typeface="Batang"/>
                <a:ea typeface="+mn-lt"/>
                <a:cs typeface="+mn-lt"/>
              </a:rPr>
              <a:t>) and Research Director (</a:t>
            </a:r>
            <a:r>
              <a:rPr lang="en-US" dirty="0">
                <a:latin typeface="Batang"/>
                <a:ea typeface="+mn-lt"/>
                <a:cs typeface="+mn-lt"/>
              </a:rPr>
              <a:t>80</a:t>
            </a:r>
            <a:r>
              <a:rPr lang="en-US" b="0" dirty="0">
                <a:latin typeface="Batang"/>
                <a:ea typeface="+mn-lt"/>
                <a:cs typeface="+mn-lt"/>
              </a:rPr>
              <a:t>) show lower attrition.</a:t>
            </a:r>
            <a:endParaRPr lang="en-US" dirty="0">
              <a:latin typeface="Batang"/>
              <a:ea typeface="+mn-lt"/>
              <a:cs typeface="+mn-lt"/>
            </a:endParaRPr>
          </a:p>
          <a:p>
            <a:pPr marL="0" indent="0"/>
            <a:r>
              <a:rPr lang="en-US" dirty="0">
                <a:latin typeface="Batang"/>
                <a:ea typeface="+mn-lt"/>
                <a:cs typeface="+mn-lt"/>
              </a:rPr>
              <a:t>3. Gender-wise:</a:t>
            </a:r>
            <a:endParaRPr lang="en-US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Males (</a:t>
            </a:r>
            <a:r>
              <a:rPr lang="en-US" dirty="0">
                <a:latin typeface="Batang"/>
                <a:ea typeface="+mn-lt"/>
                <a:cs typeface="+mn-lt"/>
              </a:rPr>
              <a:t>150</a:t>
            </a:r>
            <a:r>
              <a:rPr lang="en-US" b="0" dirty="0">
                <a:latin typeface="Batang"/>
                <a:ea typeface="+mn-lt"/>
                <a:cs typeface="+mn-lt"/>
              </a:rPr>
              <a:t>) have a higher attrition count compared to females (</a:t>
            </a:r>
            <a:r>
              <a:rPr lang="en-US" dirty="0">
                <a:latin typeface="Batang"/>
                <a:ea typeface="+mn-lt"/>
                <a:cs typeface="+mn-lt"/>
              </a:rPr>
              <a:t>87</a:t>
            </a:r>
            <a:r>
              <a:rPr lang="en-US" b="0" dirty="0">
                <a:latin typeface="Batang"/>
                <a:ea typeface="+mn-lt"/>
                <a:cs typeface="+mn-lt"/>
              </a:rPr>
              <a:t>).</a:t>
            </a:r>
            <a:endParaRPr lang="en-US" dirty="0">
              <a:latin typeface="Batang"/>
              <a:ea typeface="+mn-lt"/>
              <a:cs typeface="+mn-lt"/>
            </a:endParaRPr>
          </a:p>
          <a:p>
            <a:pPr marL="0" indent="0"/>
            <a:r>
              <a:rPr lang="en-US" dirty="0">
                <a:latin typeface="Batang"/>
                <a:ea typeface="+mn-lt"/>
                <a:cs typeface="+mn-lt"/>
              </a:rPr>
              <a:t>4. Overall Insights:</a:t>
            </a:r>
            <a:endParaRPr lang="en-US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Attrition is concentrated in mid-level technical and sales roles.</a:t>
            </a:r>
            <a:endParaRPr lang="en-US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Indicates need for retention strategies in high-stress or field-based positions.</a:t>
            </a:r>
            <a:endParaRPr lang="en-US">
              <a:latin typeface="Batang"/>
              <a:ea typeface="Batang"/>
            </a:endParaRPr>
          </a:p>
          <a:p>
            <a:endParaRPr lang="en-US" dirty="0">
              <a:latin typeface="Franklin Gothic Book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582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2DE48A9-4B27-FF3E-56DD-26B06492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583" y="1717232"/>
            <a:ext cx="7520940" cy="1037469"/>
          </a:xfrm>
        </p:spPr>
        <p:txBody>
          <a:bodyPr/>
          <a:lstStyle/>
          <a:p>
            <a:pPr algn="ctr"/>
            <a:r>
              <a:rPr lang="en-GB" dirty="0">
                <a:latin typeface="Batang"/>
                <a:ea typeface="+mj-lt"/>
                <a:cs typeface="+mj-lt"/>
              </a:rPr>
              <a:t>Visual Insights – Satisfaction &amp; Compensation</a:t>
            </a:r>
            <a:endParaRPr lang="en-US" dirty="0">
              <a:latin typeface="Bata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862A11C-B7FA-4A7B-AC5A-D25D21DEB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583" y="2912174"/>
            <a:ext cx="7520940" cy="5174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GB" sz="2000" b="0" dirty="0">
                <a:latin typeface="Batang"/>
                <a:ea typeface="+mn-lt"/>
                <a:cs typeface="+mn-lt"/>
              </a:rPr>
              <a:t>Job Satisfaction and Compensation Trends</a:t>
            </a:r>
            <a:endParaRPr lang="en-US" sz="2000">
              <a:latin typeface="Batang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5779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="" xmlns:a16="http://schemas.microsoft.com/office/drawing/2014/main" id="{03C4BBFF-A6FB-5BD0-1646-9FD94C76BE1E}"/>
              </a:ext>
              <a:ext uri="{147F2762-F138-4A5C-976F-8EAC2B608ADB}">
                <a16:predDERef xmlns="" xmlns:a16="http://schemas.microsoft.com/office/drawing/2014/main" pred="{00DDE913-C58F-F056-2A5E-DC1CF68ED1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4421068"/>
              </p:ext>
            </p:extLst>
          </p:nvPr>
        </p:nvGraphicFramePr>
        <p:xfrm>
          <a:off x="866686" y="766134"/>
          <a:ext cx="7635994" cy="47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17397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="" xmlns:a16="http://schemas.microsoft.com/office/drawing/2014/main" id="{7292DE86-5485-ECE6-E424-8B6063150E44}"/>
              </a:ext>
              <a:ext uri="{147F2762-F138-4A5C-976F-8EAC2B608ADB}">
                <a16:predDERef xmlns="" xmlns:a16="http://schemas.microsoft.com/office/drawing/2014/main" pred="{03C4BBFF-A6FB-5BD0-1646-9FD94C76BE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4130838"/>
              </p:ext>
            </p:extLst>
          </p:nvPr>
        </p:nvGraphicFramePr>
        <p:xfrm>
          <a:off x="657316" y="460256"/>
          <a:ext cx="7824697" cy="56452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65390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="" xmlns:a16="http://schemas.microsoft.com/office/drawing/2014/main" id="{699AB8F3-4F14-112B-BD03-E36115C098C7}"/>
              </a:ext>
              <a:ext uri="{147F2762-F138-4A5C-976F-8EAC2B608ADB}">
                <a16:predDERef xmlns="" xmlns:a16="http://schemas.microsoft.com/office/drawing/2014/main" pred="{7292DE86-5485-ECE6-E424-8B6063150E44}"/>
              </a:ext>
            </a:extLst>
          </p:cNvPr>
          <p:cNvGraphicFramePr>
            <a:graphicFrameLocks/>
          </p:cNvGraphicFramePr>
          <p:nvPr/>
        </p:nvGraphicFramePr>
        <p:xfrm>
          <a:off x="2276475" y="1476375"/>
          <a:ext cx="45720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="" xmlns:a16="http://schemas.microsoft.com/office/drawing/2014/main" id="{1E06C10C-8B9F-6216-378D-8E75334B6922}"/>
              </a:ext>
              <a:ext uri="{147F2762-F138-4A5C-976F-8EAC2B608ADB}">
                <a16:predDERef xmlns="" xmlns:a16="http://schemas.microsoft.com/office/drawing/2014/main" pred="{7292DE86-5485-ECE6-E424-8B6063150E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7617494"/>
              </p:ext>
            </p:extLst>
          </p:nvPr>
        </p:nvGraphicFramePr>
        <p:xfrm>
          <a:off x="378664" y="398074"/>
          <a:ext cx="8022565" cy="5841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40490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0217E7E-3E2A-5846-6855-B74805763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Batang"/>
                <a:ea typeface="+mj-lt"/>
                <a:cs typeface="+mj-lt"/>
              </a:rPr>
              <a:t>Attrition Correlation Insights</a:t>
            </a:r>
            <a:endParaRPr lang="en-US" dirty="0">
              <a:latin typeface="Bata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19E83D1-35AB-08AD-0519-32AFAE1AD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28100"/>
            <a:ext cx="7520940" cy="53626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1. </a:t>
            </a:r>
            <a:r>
              <a:rPr lang="en-US" dirty="0">
                <a:latin typeface="Batang"/>
                <a:ea typeface="+mn-lt"/>
                <a:cs typeface="+mn-lt"/>
              </a:rPr>
              <a:t>Job Satisfaction vs Attrition</a:t>
            </a:r>
            <a:endParaRPr lang="en-US" dirty="0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Highest attrition among employees with </a:t>
            </a:r>
            <a:r>
              <a:rPr lang="en-US" dirty="0">
                <a:latin typeface="Batang"/>
                <a:ea typeface="+mn-lt"/>
                <a:cs typeface="+mn-lt"/>
              </a:rPr>
              <a:t>medium (73)</a:t>
            </a:r>
            <a:r>
              <a:rPr lang="en-US" b="0" dirty="0">
                <a:latin typeface="Batang"/>
                <a:ea typeface="+mn-lt"/>
                <a:cs typeface="+mn-lt"/>
              </a:rPr>
              <a:t> and </a:t>
            </a:r>
            <a:r>
              <a:rPr lang="en-US" dirty="0">
                <a:latin typeface="Batang"/>
                <a:ea typeface="+mn-lt"/>
                <a:cs typeface="+mn-lt"/>
              </a:rPr>
              <a:t>low satisfaction (66)</a:t>
            </a:r>
            <a:r>
              <a:rPr lang="en-US" b="0" dirty="0">
                <a:latin typeface="Batang"/>
                <a:ea typeface="+mn-lt"/>
                <a:cs typeface="+mn-lt"/>
              </a:rPr>
              <a:t>.</a:t>
            </a:r>
            <a:endParaRPr lang="en-US" dirty="0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Attrition declines with higher satisfaction levels.</a:t>
            </a:r>
            <a:endParaRPr lang="en-US" dirty="0">
              <a:latin typeface="Batang"/>
              <a:ea typeface="+mn-lt"/>
              <a:cs typeface="+mn-lt"/>
            </a:endParaRPr>
          </a:p>
          <a:p>
            <a:pPr marL="0" indent="0"/>
            <a:r>
              <a:rPr lang="en-US" dirty="0">
                <a:latin typeface="Batang"/>
                <a:ea typeface="+mn-lt"/>
                <a:cs typeface="+mn-lt"/>
              </a:rPr>
              <a:t>2. Monthly Income vs Job Level</a:t>
            </a:r>
            <a:endParaRPr lang="en-US" dirty="0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Income rises consistently with job level (</a:t>
            </a:r>
            <a:r>
              <a:rPr lang="en-US" b="0" dirty="0">
                <a:solidFill>
                  <a:srgbClr val="000000"/>
                </a:solidFill>
                <a:latin typeface="Batang"/>
                <a:ea typeface="Roboto"/>
                <a:cs typeface="Roboto"/>
              </a:rPr>
              <a:t>₹</a:t>
            </a:r>
            <a:r>
              <a:rPr lang="en-US" b="0" dirty="0">
                <a:latin typeface="Batang"/>
                <a:ea typeface="+mn-lt"/>
                <a:cs typeface="+mn-lt"/>
              </a:rPr>
              <a:t>2,786    ₹19,191).</a:t>
            </a:r>
            <a:endParaRPr lang="en-US" dirty="0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Indicates clear pay hierarchy, but mid-level employees may face stagnation issues.</a:t>
            </a:r>
            <a:endParaRPr lang="en-US" dirty="0">
              <a:latin typeface="Batang"/>
              <a:ea typeface="+mn-lt"/>
              <a:cs typeface="+mn-lt"/>
            </a:endParaRPr>
          </a:p>
          <a:p>
            <a:pPr marL="0" indent="0"/>
            <a:r>
              <a:rPr lang="en-US" dirty="0">
                <a:latin typeface="Batang"/>
                <a:ea typeface="+mn-lt"/>
                <a:cs typeface="+mn-lt"/>
              </a:rPr>
              <a:t>3. Work-Life Balance vs Attrition</a:t>
            </a:r>
            <a:endParaRPr lang="en-US" dirty="0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Attrition peaks at </a:t>
            </a:r>
            <a:r>
              <a:rPr lang="en-US" dirty="0">
                <a:latin typeface="Batang"/>
                <a:ea typeface="+mn-lt"/>
                <a:cs typeface="+mn-lt"/>
              </a:rPr>
              <a:t>balance level 3 (127 employees)</a:t>
            </a:r>
            <a:r>
              <a:rPr lang="en-US" b="0" dirty="0">
                <a:latin typeface="Batang"/>
                <a:ea typeface="+mn-lt"/>
                <a:cs typeface="+mn-lt"/>
              </a:rPr>
              <a:t>, showing that moderate balance perception doesn’t ensure retention.</a:t>
            </a:r>
            <a:endParaRPr lang="en-US" dirty="0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Both poor and excellent balance levels show fewer exits.</a:t>
            </a:r>
            <a:endParaRPr lang="en-US" dirty="0">
              <a:latin typeface="Batang"/>
              <a:ea typeface="Batang"/>
              <a:cs typeface="+mn-lt"/>
            </a:endParaRPr>
          </a:p>
          <a:p>
            <a:pPr marL="0" indent="0"/>
            <a:r>
              <a:rPr lang="en-US" dirty="0">
                <a:latin typeface="Batang"/>
                <a:ea typeface="+mn-lt"/>
                <a:cs typeface="+mn-lt"/>
              </a:rPr>
              <a:t>Analytical Link:</a:t>
            </a:r>
            <a:endParaRPr lang="en-US" dirty="0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Batang"/>
                <a:ea typeface="+mn-lt"/>
                <a:cs typeface="+mn-lt"/>
              </a:rPr>
              <a:t>Employees with lower satisfaction or moderate work-life balance tend to leave more often</a:t>
            </a:r>
            <a:r>
              <a:rPr lang="en-US" b="0" dirty="0">
                <a:latin typeface="Batang"/>
                <a:ea typeface="+mn-lt"/>
                <a:cs typeface="+mn-lt"/>
              </a:rPr>
              <a:t>, regardless of income growth.</a:t>
            </a:r>
            <a:endParaRPr lang="en-US" dirty="0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This suggests </a:t>
            </a:r>
            <a:r>
              <a:rPr lang="en-US" dirty="0">
                <a:latin typeface="Batang"/>
                <a:ea typeface="+mn-lt"/>
                <a:cs typeface="+mn-lt"/>
              </a:rPr>
              <a:t>qualitative workplace factors</a:t>
            </a:r>
            <a:r>
              <a:rPr lang="en-US" b="0" dirty="0">
                <a:latin typeface="Batang"/>
                <a:ea typeface="+mn-lt"/>
                <a:cs typeface="+mn-lt"/>
              </a:rPr>
              <a:t> (like satisfaction and work-life balance) influence attrition </a:t>
            </a:r>
            <a:r>
              <a:rPr lang="en-US" dirty="0">
                <a:latin typeface="Batang"/>
                <a:ea typeface="+mn-lt"/>
                <a:cs typeface="+mn-lt"/>
              </a:rPr>
              <a:t>more than pay alone</a:t>
            </a:r>
            <a:r>
              <a:rPr lang="en-US" b="0" dirty="0">
                <a:latin typeface="Batang"/>
                <a:ea typeface="+mn-lt"/>
                <a:cs typeface="+mn-lt"/>
              </a:rPr>
              <a:t>.</a:t>
            </a:r>
            <a:endParaRPr lang="en-US" dirty="0">
              <a:latin typeface="Batang"/>
            </a:endParaRPr>
          </a:p>
          <a:p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="" xmlns:a16="http://schemas.microsoft.com/office/drawing/2014/main" id="{95BEA07F-BA9E-AE2B-977C-1754E3C5F0A6}"/>
              </a:ext>
            </a:extLst>
          </p:cNvPr>
          <p:cNvCxnSpPr/>
          <p:nvPr/>
        </p:nvCxnSpPr>
        <p:spPr>
          <a:xfrm flipV="1">
            <a:off x="5872871" y="2682107"/>
            <a:ext cx="274504" cy="8911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458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4955823"/>
              </p:ext>
            </p:extLst>
          </p:nvPr>
        </p:nvGraphicFramePr>
        <p:xfrm>
          <a:off x="0" y="0"/>
          <a:ext cx="8820472" cy="450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Worksheet" r:id="rId4" imgW="12201357" imgH="5153068" progId="Excel.Sheet.12">
                  <p:embed/>
                </p:oleObj>
              </mc:Choice>
              <mc:Fallback>
                <p:oleObj name="Worksheet" r:id="rId4" imgW="12201357" imgH="515306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8820472" cy="4509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8937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7C45713-360B-6DB0-C77D-B9CFC81B9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583" y="1717232"/>
            <a:ext cx="7520940" cy="1138111"/>
          </a:xfrm>
        </p:spPr>
        <p:txBody>
          <a:bodyPr/>
          <a:lstStyle/>
          <a:p>
            <a:pPr algn="ctr"/>
            <a:r>
              <a:rPr lang="en-US" dirty="0">
                <a:latin typeface="Batang"/>
                <a:ea typeface="+mj-lt"/>
                <a:cs typeface="+mj-lt"/>
              </a:rPr>
              <a:t>Attrition Analysis and Key Insights</a:t>
            </a:r>
            <a:endParaRPr lang="en-US" dirty="0">
              <a:latin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1782529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>
            <a:extLst>
              <a:ext uri="{FF2B5EF4-FFF2-40B4-BE49-F238E27FC236}">
                <a16:creationId xmlns="" xmlns:a16="http://schemas.microsoft.com/office/drawing/2014/main" id="{4038B1D1-BF39-43F5-409E-E077A2D2C3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7666883"/>
              </p:ext>
            </p:extLst>
          </p:nvPr>
        </p:nvGraphicFramePr>
        <p:xfrm>
          <a:off x="115378" y="508869"/>
          <a:ext cx="8908571" cy="406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9685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="" xmlns:a16="http://schemas.microsoft.com/office/drawing/2014/main" id="{EDF3B91F-27B7-5CA6-3712-BCA9A09550F7}"/>
              </a:ext>
              <a:ext uri="{147F2762-F138-4A5C-976F-8EAC2B608ADB}">
                <a16:predDERef xmlns="" xmlns:a16="http://schemas.microsoft.com/office/drawing/2014/main" pred="{16697BD0-654F-D3EA-36A7-29F79BC245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932158"/>
              </p:ext>
            </p:extLst>
          </p:nvPr>
        </p:nvGraphicFramePr>
        <p:xfrm>
          <a:off x="482002" y="234530"/>
          <a:ext cx="8189701" cy="4500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64004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="" xmlns:a16="http://schemas.microsoft.com/office/drawing/2014/main" id="{AE09632A-6553-42F1-B034-62D58D768C69}"/>
              </a:ext>
              <a:ext uri="{147F2762-F138-4A5C-976F-8EAC2B608ADB}">
                <a16:predDERef xmlns="" xmlns:a16="http://schemas.microsoft.com/office/drawing/2014/main" pred="{EDF3B91F-27B7-5CA6-3712-BCA9A09550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821556"/>
              </p:ext>
            </p:extLst>
          </p:nvPr>
        </p:nvGraphicFramePr>
        <p:xfrm>
          <a:off x="411732" y="369588"/>
          <a:ext cx="8287108" cy="4475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67452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5271997-F353-47BC-404D-ADDFBE059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Batang"/>
                <a:ea typeface="+mj-lt"/>
                <a:cs typeface="+mj-lt"/>
              </a:rPr>
              <a:t>Key Attrition Insights</a:t>
            </a:r>
            <a:endParaRPr lang="en-US" dirty="0">
              <a:latin typeface="Batang"/>
              <a:ea typeface="Bata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E665B95-3956-175E-FF08-CBEDB3F5E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1</a:t>
            </a:r>
            <a:r>
              <a:rPr lang="en-US" dirty="0">
                <a:latin typeface="Batang"/>
                <a:ea typeface="+mn-lt"/>
                <a:cs typeface="+mn-lt"/>
              </a:rPr>
              <a:t>.</a:t>
            </a:r>
            <a:r>
              <a:rPr lang="en-US" b="0" dirty="0">
                <a:latin typeface="Batang"/>
                <a:ea typeface="+mn-lt"/>
                <a:cs typeface="+mn-lt"/>
              </a:rPr>
              <a:t> Higher attrition is observed among </a:t>
            </a:r>
            <a:r>
              <a:rPr lang="en-US" dirty="0">
                <a:latin typeface="Batang"/>
                <a:ea typeface="+mn-lt"/>
                <a:cs typeface="+mn-lt"/>
              </a:rPr>
              <a:t>younger (ages 24–35)</a:t>
            </a:r>
            <a:r>
              <a:rPr lang="en-US" b="0" dirty="0">
                <a:latin typeface="Batang"/>
                <a:ea typeface="+mn-lt"/>
                <a:cs typeface="+mn-lt"/>
              </a:rPr>
              <a:t> and </a:t>
            </a:r>
            <a:r>
              <a:rPr lang="en-US" dirty="0">
                <a:latin typeface="Batang"/>
                <a:ea typeface="+mn-lt"/>
                <a:cs typeface="+mn-lt"/>
              </a:rPr>
              <a:t>single</a:t>
            </a:r>
            <a:r>
              <a:rPr lang="en-US" b="0" dirty="0">
                <a:latin typeface="Batang"/>
                <a:ea typeface="+mn-lt"/>
                <a:cs typeface="+mn-lt"/>
              </a:rPr>
              <a:t> employees, indicating early-career instability and lower organizational attachment.</a:t>
            </a:r>
            <a:endParaRPr lang="en-US" dirty="0">
              <a:latin typeface="Batang"/>
              <a:ea typeface="Batang"/>
            </a:endParaRPr>
          </a:p>
          <a:p>
            <a:r>
              <a:rPr lang="en-US" dirty="0">
                <a:latin typeface="Batang"/>
                <a:ea typeface="+mn-lt"/>
                <a:cs typeface="+mn-lt"/>
              </a:rPr>
              <a:t>2.</a:t>
            </a:r>
            <a:r>
              <a:rPr lang="en-US" b="0" dirty="0">
                <a:latin typeface="Batang"/>
                <a:ea typeface="+mn-lt"/>
                <a:cs typeface="+mn-lt"/>
              </a:rPr>
              <a:t> </a:t>
            </a:r>
            <a:r>
              <a:rPr lang="en-US" dirty="0">
                <a:latin typeface="Batang"/>
                <a:ea typeface="+mn-lt"/>
                <a:cs typeface="+mn-lt"/>
              </a:rPr>
              <a:t>Research &amp; Development (961)</a:t>
            </a:r>
            <a:r>
              <a:rPr lang="en-US" b="0" dirty="0">
                <a:latin typeface="Batang"/>
                <a:ea typeface="+mn-lt"/>
                <a:cs typeface="+mn-lt"/>
              </a:rPr>
              <a:t> and </a:t>
            </a:r>
            <a:r>
              <a:rPr lang="en-US" dirty="0">
                <a:latin typeface="Batang"/>
                <a:ea typeface="+mn-lt"/>
                <a:cs typeface="+mn-lt"/>
              </a:rPr>
              <a:t>Sales (446)</a:t>
            </a:r>
            <a:r>
              <a:rPr lang="en-US" b="0" dirty="0">
                <a:latin typeface="Batang"/>
                <a:ea typeface="+mn-lt"/>
                <a:cs typeface="+mn-lt"/>
              </a:rPr>
              <a:t> departments show the </a:t>
            </a:r>
            <a:r>
              <a:rPr lang="en-US" dirty="0">
                <a:latin typeface="Batang"/>
                <a:ea typeface="+mn-lt"/>
                <a:cs typeface="+mn-lt"/>
              </a:rPr>
              <a:t>maximum turnover</a:t>
            </a:r>
            <a:r>
              <a:rPr lang="en-US" b="0" dirty="0">
                <a:latin typeface="Batang"/>
                <a:ea typeface="+mn-lt"/>
                <a:cs typeface="+mn-lt"/>
              </a:rPr>
              <a:t>, whereas </a:t>
            </a:r>
            <a:r>
              <a:rPr lang="en-US" dirty="0">
                <a:latin typeface="Batang"/>
                <a:ea typeface="+mn-lt"/>
                <a:cs typeface="+mn-lt"/>
              </a:rPr>
              <a:t>HR</a:t>
            </a:r>
            <a:r>
              <a:rPr lang="en-US" b="0" dirty="0">
                <a:latin typeface="Batang"/>
                <a:ea typeface="+mn-lt"/>
                <a:cs typeface="+mn-lt"/>
              </a:rPr>
              <a:t> records the least attrition.</a:t>
            </a:r>
            <a:endParaRPr lang="en-US" dirty="0">
              <a:latin typeface="Batang"/>
              <a:ea typeface="Batang"/>
            </a:endParaRPr>
          </a:p>
          <a:p>
            <a:r>
              <a:rPr lang="en-US" dirty="0">
                <a:latin typeface="Batang"/>
                <a:ea typeface="+mn-lt"/>
                <a:cs typeface="+mn-lt"/>
              </a:rPr>
              <a:t>3.</a:t>
            </a:r>
            <a:r>
              <a:rPr lang="en-US" b="0" dirty="0">
                <a:latin typeface="Batang"/>
                <a:ea typeface="+mn-lt"/>
                <a:cs typeface="+mn-lt"/>
              </a:rPr>
              <a:t> Employees with </a:t>
            </a:r>
            <a:r>
              <a:rPr lang="en-US" dirty="0">
                <a:latin typeface="Batang"/>
                <a:ea typeface="+mn-lt"/>
                <a:cs typeface="+mn-lt"/>
              </a:rPr>
              <a:t>better work-life balance ratings (3–4)</a:t>
            </a:r>
            <a:r>
              <a:rPr lang="en-US" b="0" dirty="0">
                <a:latin typeface="Batang"/>
                <a:ea typeface="+mn-lt"/>
                <a:cs typeface="+mn-lt"/>
              </a:rPr>
              <a:t> demonstrate </a:t>
            </a:r>
            <a:r>
              <a:rPr lang="en-US" dirty="0">
                <a:latin typeface="Batang"/>
                <a:ea typeface="+mn-lt"/>
                <a:cs typeface="+mn-lt"/>
              </a:rPr>
              <a:t>stronger retention</a:t>
            </a:r>
            <a:r>
              <a:rPr lang="en-US" b="0" dirty="0">
                <a:latin typeface="Batang"/>
                <a:ea typeface="+mn-lt"/>
                <a:cs typeface="+mn-lt"/>
              </a:rPr>
              <a:t>, highlighting the importance of work-life support initiatives.</a:t>
            </a:r>
            <a:endParaRPr lang="en-US" dirty="0">
              <a:latin typeface="Batang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056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3DF44B-4C4C-B0E2-D5EE-93FAF506A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583" y="265118"/>
            <a:ext cx="7520940" cy="548640"/>
          </a:xfrm>
        </p:spPr>
        <p:txBody>
          <a:bodyPr/>
          <a:lstStyle/>
          <a:p>
            <a:pPr algn="ctr"/>
            <a:r>
              <a:rPr lang="en-US" dirty="0">
                <a:latin typeface="Batang"/>
                <a:ea typeface="Batang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BAE4E2D-C7F4-7557-D2D4-4773A4D1B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017" y="985609"/>
            <a:ext cx="8326071" cy="556392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ea typeface="+mn-lt"/>
                <a:cs typeface="+mn-lt"/>
              </a:rPr>
              <a:t>1. </a:t>
            </a:r>
            <a:r>
              <a:rPr lang="en-US" dirty="0">
                <a:latin typeface="Batang"/>
                <a:ea typeface="+mn-lt"/>
                <a:cs typeface="+mn-lt"/>
              </a:rPr>
              <a:t>Strengthen Retention &amp; Engagement</a:t>
            </a:r>
            <a:endParaRPr lang="en-US" dirty="0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Focus on younger and single employees through mentorship and growth programs.</a:t>
            </a:r>
            <a:endParaRPr lang="en-US" dirty="0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>
                <a:latin typeface="Batang"/>
                <a:ea typeface="+mn-lt"/>
                <a:cs typeface="+mn-lt"/>
              </a:rPr>
              <a:t>Conduct stay interviews to identify key motivators and turnover triggers.</a:t>
            </a:r>
            <a:endParaRPr lang="en-US">
              <a:latin typeface="Batang"/>
              <a:ea typeface="Batang"/>
              <a:cs typeface="+mn-lt"/>
            </a:endParaRPr>
          </a:p>
          <a:p>
            <a:pPr marL="0" indent="0"/>
            <a:r>
              <a:rPr lang="en-US" dirty="0">
                <a:latin typeface="Batang"/>
                <a:ea typeface="+mn-lt"/>
                <a:cs typeface="+mn-lt"/>
              </a:rPr>
              <a:t>2. Enhance Job Satisfaction &amp; Career Growth</a:t>
            </a:r>
            <a:endParaRPr lang="en-US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Offer skill-building and role rotation opportunities to reduce stagnation.</a:t>
            </a:r>
            <a:endParaRPr lang="en-US" dirty="0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>
                <a:latin typeface="Batang"/>
                <a:ea typeface="+mn-lt"/>
                <a:cs typeface="+mn-lt"/>
              </a:rPr>
              <a:t>Recognize and reward high performers regularly to boost morale.</a:t>
            </a:r>
            <a:endParaRPr lang="en-US">
              <a:latin typeface="Batang"/>
              <a:ea typeface="Batang"/>
              <a:cs typeface="+mn-lt"/>
            </a:endParaRPr>
          </a:p>
          <a:p>
            <a:pPr marL="0" indent="0"/>
            <a:r>
              <a:rPr lang="en-US" dirty="0">
                <a:latin typeface="Batang"/>
                <a:ea typeface="+mn-lt"/>
                <a:cs typeface="+mn-lt"/>
              </a:rPr>
              <a:t>3. Optimize Departmental Policies</a:t>
            </a:r>
            <a:endParaRPr lang="en-US" dirty="0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Provide tailored workload and incentive structures in R&amp;D and Sales.</a:t>
            </a:r>
            <a:endParaRPr lang="en-US" dirty="0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>
                <a:latin typeface="Batang"/>
                <a:ea typeface="+mn-lt"/>
                <a:cs typeface="+mn-lt"/>
              </a:rPr>
              <a:t>Encourage interdepartmental collaboration for a better work environment.</a:t>
            </a:r>
            <a:endParaRPr lang="en-US">
              <a:latin typeface="Batang"/>
              <a:ea typeface="Batang"/>
              <a:cs typeface="+mn-lt"/>
            </a:endParaRPr>
          </a:p>
          <a:p>
            <a:pPr marL="0" indent="0"/>
            <a:r>
              <a:rPr lang="en-US" dirty="0">
                <a:latin typeface="Batang"/>
                <a:ea typeface="+mn-lt"/>
                <a:cs typeface="+mn-lt"/>
              </a:rPr>
              <a:t>4. Promote Work-Life Balance</a:t>
            </a:r>
            <a:endParaRPr lang="en-US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Implement flexible schedules and wellness initiatives.</a:t>
            </a:r>
            <a:endParaRPr lang="en-US" dirty="0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>
                <a:latin typeface="Batang"/>
                <a:ea typeface="+mn-lt"/>
                <a:cs typeface="+mn-lt"/>
              </a:rPr>
              <a:t>Train managers to proactively address workload stress.</a:t>
            </a:r>
            <a:endParaRPr lang="en-US">
              <a:latin typeface="Batang"/>
              <a:ea typeface="Batang"/>
              <a:cs typeface="+mn-lt"/>
            </a:endParaRPr>
          </a:p>
          <a:p>
            <a:pPr marL="0" indent="0"/>
            <a:r>
              <a:rPr lang="en-US" dirty="0">
                <a:latin typeface="Batang"/>
                <a:ea typeface="+mn-lt"/>
                <a:cs typeface="+mn-lt"/>
              </a:rPr>
              <a:t>5. Reassess Compensation &amp; Recognition Systems</a:t>
            </a:r>
            <a:endParaRPr lang="en-US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Align pay scales with contributions and performance.</a:t>
            </a:r>
            <a:endParaRPr lang="en-US" dirty="0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Communicate promotion criteria transparently.</a:t>
            </a:r>
            <a:endParaRPr lang="en-US" dirty="0">
              <a:latin typeface="Batang"/>
              <a:ea typeface="Batang"/>
              <a:cs typeface="+mn-lt"/>
            </a:endParaRPr>
          </a:p>
          <a:p>
            <a:pPr marL="0" indent="0"/>
            <a:r>
              <a:rPr lang="en-US" dirty="0">
                <a:latin typeface="Batang"/>
                <a:ea typeface="+mn-lt"/>
                <a:cs typeface="+mn-lt"/>
              </a:rPr>
              <a:t>6. Leverage Data-Driven HR Decisions</a:t>
            </a:r>
            <a:endParaRPr lang="en-US" dirty="0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Maintain a live dashboard to track satisfaction, retention, and performance trends.</a:t>
            </a:r>
            <a:endParaRPr lang="en-US" dirty="0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latin typeface="Batang"/>
                <a:ea typeface="+mn-lt"/>
                <a:cs typeface="+mn-lt"/>
              </a:rPr>
              <a:t>Use predictive analytics to anticipate attrition and workforce needs.</a:t>
            </a:r>
            <a:endParaRPr lang="en-US" dirty="0">
              <a:latin typeface="Batang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724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75673D-31A7-1109-A350-1AD260E78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8319" y="2033533"/>
            <a:ext cx="3121468" cy="548640"/>
          </a:xfrm>
        </p:spPr>
        <p:txBody>
          <a:bodyPr/>
          <a:lstStyle/>
          <a:p>
            <a:pPr algn="ctr"/>
            <a:r>
              <a:rPr lang="en-US" dirty="0">
                <a:latin typeface="Batang"/>
                <a:ea typeface="+mj-lt"/>
                <a:cs typeface="+mj-lt"/>
              </a:rPr>
              <a:t>Thank You</a:t>
            </a:r>
            <a:endParaRPr lang="en-US" dirty="0">
              <a:latin typeface="Batang"/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8027901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ngles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2617</TotalTime>
  <Words>759</Words>
  <Application>Microsoft Office PowerPoint</Application>
  <PresentationFormat>On-screen Show (4:3)</PresentationFormat>
  <Paragraphs>166</Paragraphs>
  <Slides>24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Angles</vt:lpstr>
      <vt:lpstr>Worksheet</vt:lpstr>
      <vt:lpstr>HR Analytics Dashboard – Employee Insights 2025 Based on company HR data (2024–2025) Presented by Nora Data Entry Executive 📧 shreyaalphaguha@gmail.com Date: November 2025</vt:lpstr>
      <vt:lpstr>PowerPoint Presentation</vt:lpstr>
      <vt:lpstr>PowerPoint Presentation</vt:lpstr>
      <vt:lpstr>Key Metrics</vt:lpstr>
      <vt:lpstr>PowerPoint Presentation</vt:lpstr>
      <vt:lpstr>Key Metrics Summary</vt:lpstr>
      <vt:lpstr>Visual Insights – Attrition Employee Attrition Analysis </vt:lpstr>
      <vt:lpstr>PowerPoint Presentation</vt:lpstr>
      <vt:lpstr>PowerPoint Presentation</vt:lpstr>
      <vt:lpstr>PowerPoint Presentation</vt:lpstr>
      <vt:lpstr>Attrition Analysis Summary</vt:lpstr>
      <vt:lpstr>Visual Insights – Satisfaction &amp; Compensation</vt:lpstr>
      <vt:lpstr>PowerPoint Presentation</vt:lpstr>
      <vt:lpstr>PowerPoint Presentation</vt:lpstr>
      <vt:lpstr>PowerPoint Presentation</vt:lpstr>
      <vt:lpstr>Attrition Correlation Insights</vt:lpstr>
      <vt:lpstr>PowerPoint Presentation</vt:lpstr>
      <vt:lpstr>Attrition Analysis and Key Insights</vt:lpstr>
      <vt:lpstr>PowerPoint Presentation</vt:lpstr>
      <vt:lpstr>PowerPoint Presentation</vt:lpstr>
      <vt:lpstr>PowerPoint Presentation</vt:lpstr>
      <vt:lpstr>Key Attrition Insights</vt:lpstr>
      <vt:lpstr>Recommendations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Dashboard – Employee Insights 2025 Based on company HR data (2024–2025) Presented by  nora  Data Entry Executive nora@gmail.com Date: November 2025</dc:title>
  <dc:creator>USER</dc:creator>
  <cp:lastModifiedBy>USER</cp:lastModifiedBy>
  <cp:revision>361</cp:revision>
  <dcterms:created xsi:type="dcterms:W3CDTF">2025-11-04T08:12:28Z</dcterms:created>
  <dcterms:modified xsi:type="dcterms:W3CDTF">2025-11-09T12:29:13Z</dcterms:modified>
</cp:coreProperties>
</file>